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lias E: kysymykset ja aineisto" id="{40dc2345-b731-b73e-ca34-26661b15209f}">
          <p14:sldIdLst>
            <p14:sldId id="256"/>
            <p14:sldId id="257"/>
            <p14:sldId id="258"/>
          </p14:sldIdLst>
        </p14:section>
        <p14:section name="Elias N: tutkiminen, esikäsittely, roolit" id="{1e382c5c-41cc-93d7-cdd0-dd6615b21e1d}">
          <p14:sldIdLst>
            <p14:sldId id="259"/>
            <p14:sldId id="260"/>
            <p14:sldId id="261"/>
          </p14:sldIdLst>
        </p14:section>
        <p14:section name="Veijo: roolikartta ja ennustaminen" id="{7cca90a1-471e-b949-0ad9-2c9366fb21f9}">
          <p14:sldIdLst>
            <p14:sldId id="262"/>
            <p14:sldId id="263"/>
            <p14:sldId id="264"/>
          </p14:sldIdLst>
        </p14:section>
        <p14:section name="Miska: sade, käyttöönotto, johtopäätökset" id="{e46d5ec1-e390-9f7a-94bb-f71c5b25330c}">
          <p14:sldIdLst>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2328"/>
                </a:solidFill>
                <a:latin typeface="+mn-lt"/>
              </a:defRPr>
            </a:pPr>
            <a:r>
              <a:rPr sz="1400" b="0" i="0" u="none" strike="noStrike">
                <a:solidFill>
                  <a:srgbClr val="1E2328"/>
                </a:solidFill>
                <a:latin typeface="+mn-lt"/>
              </a:rPr>
              <a:t>Siivouksessa poistetut rivit</a:t>
            </a:r>
          </a:p>
        </c:rich>
      </c:tx>
      <c:layout/>
      <c:overlay val="0"/>
    </c:title>
    <c:autoTitleDeleted val="0"/>
    <c:plotArea>
      <c:layout/>
      <c:barChart>
        <c:barDir val="bar"/>
        <c:grouping val="clustered"/>
        <c:varyColors val="0"/>
        <c:ser>
          <c:idx val="0"/>
          <c:order val="0"/>
          <c:tx>
            <c:strRef>
              <c:f>Sheet1!$B$1</c:f>
              <c:strCache>
                <c:ptCount val="1"/>
                <c:pt idx="0">
                  <c:v>Poistetut rivit</c:v>
                </c:pt>
              </c:strCache>
            </c:strRef>
          </c:tx>
          <c:spPr>
            <a:solidFill>
              <a:srgbClr val="8D99AE"/>
            </a:solidFill>
            <a:effectLst/>
          </c:spPr>
          <c:invertIfNegative val="0"/>
          <c:dLbls>
            <c:numFmt formatCode="#,##0" sourceLinked="0"/>
            <c:txPr>
              <a:bodyPr/>
              <a:lstStyle/>
              <a:p>
                <a:pPr>
                  <a:defRPr b="0" i="0" strike="noStrike" sz="1200" u="none">
                    <a:solidFill>
                      <a:srgbClr val="1E2328"/>
                    </a:solidFill>
                    <a:latin typeface="+mn-lt"/>
                  </a:defRPr>
                </a:pPr>
              </a:p>
            </c:txPr>
            <c:showLegendKey val="0"/>
            <c:showVal val="1"/>
            <c:showCatName val="0"/>
            <c:showSerName val="0"/>
            <c:showPercent val="0"/>
            <c:showBubbleSize val="0"/>
            <c:showLeaderLines val="0"/>
          </c:dLbls>
          <c:cat>
            <c:multiLvlStrRef>
              <c:f>Sheet1!$A$2:$A$6</c:f>
              <c:multiLvlStrCache>
                <c:ptCount val="5"/>
                <c:lvl>
                  <c:pt idx="0">
                    <c:v>Vuokraus alle 60 s</c:v>
                  </c:pt>
                  <c:pt idx="1">
                    <c:v>Matka alle 50 m</c:v>
                  </c:pt>
                  <c:pt idx="2">
                    <c:v>Matka yli 5 tuntia</c:v>
                  </c:pt>
                  <c:pt idx="3">
                    <c:v>Väliaikainen tai testiasema</c:v>
                  </c:pt>
                  <c:pt idx="4">
                    <c:v>Virheellinen aika tai kaksoisrivi</c:v>
                  </c:pt>
                </c:lvl>
              </c:multiLvlStrCache>
            </c:multiLvlStrRef>
          </c:cat>
          <c:val>
            <c:numRef>
              <c:f>Sheet1!$B$2:$B$6</c:f>
              <c:numCache>
                <c:formatCode>General</c:formatCode>
                <c:ptCount val="5"/>
                <c:pt idx="0">
                  <c:v>124732</c:v>
                </c:pt>
                <c:pt idx="1">
                  <c:v>37508</c:v>
                </c:pt>
                <c:pt idx="2">
                  <c:v>14879</c:v>
                </c:pt>
                <c:pt idx="3">
                  <c:v>7161</c:v>
                </c:pt>
                <c:pt idx="4">
                  <c:v>50</c:v>
                </c:pt>
              </c:numCache>
            </c:numRef>
          </c:val>
        </c:ser>
        <c:dLbls>
          <c:numFmt formatCode="#,##0" sourceLinked="0"/>
          <c:txPr>
            <a:bodyPr/>
            <a:lstStyle/>
            <a:p>
              <a:pPr>
                <a:defRPr b="0" i="0" strike="noStrike" sz="1200" u="none">
                  <a:solidFill>
                    <a:srgbClr val="1E2328"/>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24333B"/>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2328"/>
                </a:solidFill>
                <a:latin typeface="+mn-lt"/>
              </a:defRPr>
            </a:pPr>
            <a:r>
              <a:rPr sz="1400" b="0" i="0" u="none" strike="noStrike">
                <a:solidFill>
                  <a:srgbClr val="1E2328"/>
                </a:solidFill>
                <a:latin typeface="+mn-lt"/>
              </a:rPr>
              <a:t>Keskimääräinen absoluuttinen virhe 2025, matkaa/h (pienempi on parempi)</a:t>
            </a:r>
          </a:p>
        </c:rich>
      </c:tx>
      <c:layout/>
      <c:overlay val="0"/>
    </c:title>
    <c:autoTitleDeleted val="0"/>
    <c:plotArea>
      <c:layout/>
      <c:barChart>
        <c:barDir val="col"/>
        <c:grouping val="clustered"/>
        <c:varyColors val="0"/>
        <c:ser>
          <c:idx val="0"/>
          <c:order val="0"/>
          <c:tx>
            <c:strRef>
              <c:f>Sheet1!$B$1</c:f>
              <c:strCache>
                <c:ptCount val="1"/>
                <c:pt idx="0">
                  <c:v>Kaikki tunnit</c:v>
                </c:pt>
              </c:strCache>
            </c:strRef>
          </c:tx>
          <c:spPr>
            <a:solidFill>
              <a:srgbClr val="2A6F97"/>
            </a:solidFill>
            <a:effectLst/>
          </c:spPr>
          <c:invertIfNegative val="0"/>
          <c:dLbls>
            <c:numFmt formatCode="0" sourceLinked="0"/>
            <c:txPr>
              <a:bodyPr/>
              <a:lstStyle/>
              <a:p>
                <a:pPr>
                  <a:defRPr b="0" i="0" strike="noStrike" sz="1200" u="none">
                    <a:solidFill>
                      <a:srgbClr val="1E2328"/>
                    </a:solidFill>
                    <a:latin typeface="+mn-lt"/>
                  </a:defRPr>
                </a:pPr>
              </a:p>
            </c:txPr>
            <c:showLegendKey val="0"/>
            <c:showVal val="1"/>
            <c:showCatName val="0"/>
            <c:showSerName val="0"/>
            <c:showPercent val="0"/>
            <c:showBubbleSize val="0"/>
            <c:showLeaderLines val="0"/>
          </c:dLbls>
          <c:cat>
            <c:multiLvlStrRef>
              <c:f>Sheet1!$A$2:$A$5</c:f>
              <c:multiLvlStrCache>
                <c:ptCount val="4"/>
                <c:lvl>
                  <c:pt idx="0">
                    <c:v>Profiiliperusmalli</c:v>
                  </c:pt>
                  <c:pt idx="1">
                    <c:v>Satunnaismetsä, kalenteri</c:v>
                  </c:pt>
                  <c:pt idx="2">
                    <c:v>Satunnaismetsä, kalenteri + sää</c:v>
                  </c:pt>
                  <c:pt idx="3">
                    <c:v>Log-lineaarinen regressio</c:v>
                  </c:pt>
                </c:lvl>
              </c:multiLvlStrCache>
            </c:multiLvlStrRef>
          </c:cat>
          <c:val>
            <c:numRef>
              <c:f>Sheet1!$B$2:$B$5</c:f>
              <c:numCache>
                <c:formatCode>General</c:formatCode>
                <c:ptCount val="4"/>
                <c:pt idx="0">
                  <c:v>116.1</c:v>
                </c:pt>
                <c:pt idx="1">
                  <c:v>109.1</c:v>
                </c:pt>
                <c:pt idx="2">
                  <c:v>71</c:v>
                </c:pt>
                <c:pt idx="3">
                  <c:v>85.5</c:v>
                </c:pt>
              </c:numCache>
            </c:numRef>
          </c:val>
        </c:ser>
        <c:ser>
          <c:idx val="1"/>
          <c:order val="1"/>
          <c:tx>
            <c:strRef>
              <c:f>Sheet1!$C$1</c:f>
              <c:strCache>
                <c:ptCount val="1"/>
                <c:pt idx="0">
                  <c:v>Sadetunnit</c:v>
                </c:pt>
              </c:strCache>
            </c:strRef>
          </c:tx>
          <c:spPr>
            <a:solidFill>
              <a:srgbClr val="F2B705"/>
            </a:solidFill>
            <a:effectLst/>
          </c:spPr>
          <c:invertIfNegative val="0"/>
          <c:dLbls>
            <c:numFmt formatCode="0" sourceLinked="0"/>
            <c:txPr>
              <a:bodyPr/>
              <a:lstStyle/>
              <a:p>
                <a:pPr>
                  <a:defRPr b="0" i="0" strike="noStrike" sz="1200" u="none">
                    <a:solidFill>
                      <a:srgbClr val="1E2328"/>
                    </a:solidFill>
                    <a:latin typeface="+mn-lt"/>
                  </a:defRPr>
                </a:pPr>
              </a:p>
            </c:txPr>
            <c:showLegendKey val="0"/>
            <c:showVal val="1"/>
            <c:showCatName val="0"/>
            <c:showSerName val="0"/>
            <c:showPercent val="0"/>
            <c:showBubbleSize val="0"/>
            <c:showLeaderLines val="0"/>
          </c:dLbls>
          <c:cat>
            <c:multiLvlStrRef>
              <c:f>Sheet1!$A$2:$A$5</c:f>
              <c:multiLvlStrCache>
                <c:ptCount val="4"/>
                <c:lvl>
                  <c:pt idx="0">
                    <c:v>Profiiliperusmalli</c:v>
                  </c:pt>
                  <c:pt idx="1">
                    <c:v>Satunnaismetsä, kalenteri</c:v>
                  </c:pt>
                  <c:pt idx="2">
                    <c:v>Satunnaismetsä, kalenteri + sää</c:v>
                  </c:pt>
                  <c:pt idx="3">
                    <c:v>Log-lineaarinen regressio</c:v>
                  </c:pt>
                </c:lvl>
              </c:multiLvlStrCache>
            </c:multiLvlStrRef>
          </c:cat>
          <c:val>
            <c:numRef>
              <c:f>Sheet1!$C$2:$C$5</c:f>
              <c:numCache>
                <c:formatCode>General</c:formatCode>
                <c:ptCount val="4"/>
                <c:pt idx="0">
                  <c:v>237.3</c:v>
                </c:pt>
                <c:pt idx="1">
                  <c:v>226.5</c:v>
                </c:pt>
                <c:pt idx="2">
                  <c:v>88.1</c:v>
                </c:pt>
                <c:pt idx="3">
                  <c:v>55.2</c:v>
                </c:pt>
              </c:numCache>
            </c:numRef>
          </c:val>
        </c:ser>
        <c:dLbls>
          <c:numFmt formatCode="0" sourceLinked="0"/>
          <c:txPr>
            <a:bodyPr/>
            <a:lstStyle/>
            <a:p>
              <a:pPr>
                <a:defRPr b="0" i="0" strike="noStrike" sz="1200" u="none">
                  <a:solidFill>
                    <a:srgbClr val="1E2328"/>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4333B"/>
                </a:solidFill>
                <a:latin typeface="+mn-lt"/>
              </a:defRPr>
            </a:pPr>
            <a:endParaRPr lang="en-US"/>
          </a:p>
        </c:txPr>
        <c:crossAx val="2094734552"/>
        <c:crosses val="autoZero"/>
        <c:auto val="1"/>
        <c:lblAlgn val="ctr"/>
        <c:noMultiLvlLbl val="1"/>
      </c:catAx>
      <c:valAx>
        <c:axId val="2094734552"/>
        <c:scaling>
          <c:orientation val="minMax"/>
          <c:max val="250"/>
          <c:min val="0"/>
        </c:scaling>
        <c:delete val="0"/>
        <c:axPos val="l"/>
        <c:majorGridlines>
          <c:spPr>
            <a:ln w="9525" cap="flat">
              <a:solidFill>
                <a:srgbClr val="E3E6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8D99AE"/>
                </a:solidFill>
                <a:latin typeface="+mn-lt"/>
              </a:defRPr>
            </a:pPr>
            <a:endParaRPr lang="en-US"/>
          </a:p>
        </c:txPr>
        <c:crossAx val="2094734554"/>
        <c:crosses val="autoZero"/>
        <c:crossBetween val="between"/>
        <c:majorUnit val="50"/>
      </c:valAx>
      <c:spPr>
        <a:noFill/>
        <a:ln>
          <a:noFill/>
        </a:ln>
        <a:effectLst/>
      </c:spPr>
    </c:plotArea>
    <c:legend>
      <c:legendPos val="t"/>
      <c:overlay val="0"/>
      <c:txPr>
        <a:bodyPr/>
        <a:lstStyle/>
        <a:p>
          <a:pPr>
            <a:defRPr sz="1300">
              <a:solidFill>
                <a:srgbClr val="1E232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2328"/>
                </a:solidFill>
                <a:latin typeface="+mn-lt"/>
              </a:defRPr>
            </a:pPr>
            <a:r>
              <a:rPr sz="1400" b="0" i="0" u="none" strike="noStrike">
                <a:solidFill>
                  <a:srgbClr val="1E2328"/>
                </a:solidFill>
                <a:latin typeface="+mn-lt"/>
              </a:rPr>
              <a:t>Pyörien nettomuutos asemaa kohden, arkisin klo 6–10</a:t>
            </a:r>
          </a:p>
        </c:rich>
      </c:tx>
      <c:layout/>
      <c:overlay val="0"/>
    </c:title>
    <c:autoTitleDeleted val="0"/>
    <c:plotArea>
      <c:layout/>
      <c:barChart>
        <c:barDir val="bar"/>
        <c:grouping val="clustered"/>
        <c:varyColors val="0"/>
        <c:ser>
          <c:idx val="0"/>
          <c:order val="0"/>
          <c:tx>
            <c:strRef>
              <c:f>Sheet1!$B$1</c:f>
              <c:strCache>
                <c:ptCount val="1"/>
                <c:pt idx="0">
                  <c:v>Nettomuutos asemaa kohden</c:v>
                </c:pt>
              </c:strCache>
            </c:strRef>
          </c:tx>
          <c:spPr>
            <a:solidFill>
              <a:srgbClr val="2A6F97"/>
            </a:solidFill>
            <a:effectLst/>
          </c:spPr>
          <c:invertIfNegative val="0"/>
          <c:dLbls>
            <c:numFmt formatCode="+0.0;-0.0" sourceLinked="0"/>
            <c:txPr>
              <a:bodyPr/>
              <a:lstStyle/>
              <a:p>
                <a:pPr>
                  <a:defRPr b="0" i="0" strike="noStrike" sz="1300" u="none">
                    <a:solidFill>
                      <a:srgbClr val="1E2328"/>
                    </a:solidFill>
                    <a:latin typeface="+mn-lt"/>
                  </a:defRPr>
                </a:pPr>
              </a:p>
            </c:txPr>
            <c:showLegendKey val="0"/>
            <c:showVal val="1"/>
            <c:showCatName val="0"/>
            <c:showSerName val="0"/>
            <c:showPercent val="0"/>
            <c:showBubbleSize val="0"/>
            <c:showLeaderLines val="0"/>
          </c:dLbls>
          <c:dPt>
            <c:idx val="0"/>
            <c:invertIfNegative val="0"/>
            <c:bubble3D val="0"/>
            <c:spPr>
              <a:solidFill>
                <a:srgbClr val="2A6F97"/>
              </a:solidFill>
              <a:effectLst/>
            </c:spPr>
          </c:dPt>
          <c:dPt>
            <c:idx val="1"/>
            <c:invertIfNegative val="0"/>
            <c:bubble3D val="0"/>
            <c:spPr>
              <a:solidFill>
                <a:srgbClr val="D62828"/>
              </a:solidFill>
              <a:effectLst/>
            </c:spPr>
          </c:dPt>
          <c:dPt>
            <c:idx val="2"/>
            <c:invertIfNegative val="0"/>
            <c:bubble3D val="0"/>
            <c:spPr>
              <a:solidFill>
                <a:srgbClr val="8D99AE"/>
              </a:solidFill>
              <a:effectLst/>
            </c:spPr>
          </c:dPt>
          <c:dPt>
            <c:idx val="3"/>
            <c:invertIfNegative val="0"/>
            <c:bubble3D val="0"/>
            <c:spPr>
              <a:solidFill>
                <a:srgbClr val="2A9D8F"/>
              </a:solidFill>
              <a:effectLst/>
            </c:spPr>
          </c:dPt>
          <c:dPt>
            <c:idx val="4"/>
            <c:invertIfNegative val="0"/>
            <c:bubble3D val="0"/>
            <c:spPr>
              <a:solidFill>
                <a:srgbClr val="7B2CBF"/>
              </a:solidFill>
              <a:effectLst/>
            </c:spPr>
          </c:dPt>
          <c:cat>
            <c:multiLvlStrRef>
              <c:f>Sheet1!$A$2:$A$6</c:f>
              <c:multiLvlStrCache>
                <c:ptCount val="5"/>
                <c:lvl>
                  <c:pt idx="0">
                    <c:v>Aamun lähtöasema</c:v>
                  </c:pt>
                  <c:pt idx="1">
                    <c:v>Aamun määränpää</c:v>
                  </c:pt>
                  <c:pt idx="2">
                    <c:v>Tasapainoinen</c:v>
                  </c:pt>
                  <c:pt idx="3">
                    <c:v>Ilta ja viikonloppu</c:v>
                  </c:pt>
                  <c:pt idx="4">
                    <c:v>Yöllinen asuinalue</c:v>
                  </c:pt>
                </c:lvl>
              </c:multiLvlStrCache>
            </c:multiLvlStrRef>
          </c:cat>
          <c:val>
            <c:numRef>
              <c:f>Sheet1!$B$2:$B$6</c:f>
              <c:numCache>
                <c:formatCode>General</c:formatCode>
                <c:ptCount val="5"/>
                <c:pt idx="0">
                  <c:v>-3.5</c:v>
                </c:pt>
                <c:pt idx="1">
                  <c:v>8</c:v>
                </c:pt>
                <c:pt idx="2">
                  <c:v>1.7</c:v>
                </c:pt>
                <c:pt idx="3">
                  <c:v>0.5</c:v>
                </c:pt>
                <c:pt idx="4">
                  <c:v>-2.3</c:v>
                </c:pt>
              </c:numCache>
            </c:numRef>
          </c:val>
        </c:ser>
        <c:dLbls>
          <c:numFmt formatCode="+0.0;-0.0" sourceLinked="0"/>
          <c:txPr>
            <a:bodyPr/>
            <a:lstStyle/>
            <a:p>
              <a:pPr>
                <a:defRPr b="0" i="0" strike="noStrike" sz="1300" u="none">
                  <a:solidFill>
                    <a:srgbClr val="1E2328"/>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24333B"/>
                </a:solidFill>
                <a:latin typeface="+mn-lt"/>
              </a:defRPr>
            </a:pPr>
            <a:endParaRPr lang="en-US"/>
          </a:p>
        </c:txPr>
        <c:crossAx val="2094734552"/>
        <c:crosses val="autoZero"/>
        <c:auto val="1"/>
        <c:lblAlgn val="ctr"/>
        <c:noMultiLvlLbl val="1"/>
      </c:catAx>
      <c:valAx>
        <c:axId val="2094734552"/>
        <c:scaling>
          <c:orientation val="minMax"/>
          <c:max val="10"/>
          <c:min val="-6"/>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Elias E: Hyvää huomenta. Projektimme käsittelee Helsingin kaupunkipyöriä. Yhdistimme kahden kokonaisen kauden matkadatan, noin viisi miljoonaa matkaa, tunneittaisiin säähavaintoihin. Kysyimme kolme asiaa: millaisia rooleja asemilla on, kuinka paljon sää auttaa kysynnän ennustamisessa ja ketkä reagoivat sateeseen eniten. Työ eteni CRISP-DM-mallin mukaan, ja esitys käy vaiheet läpi järjestyksessä. Minä aloitan kysymyksistä ja aineistosta, Elias N kertoo aineiston tutkimisesta, esikäsittelystä ja asemien rooleista, Veijo kartasta ja ennustetuloksista, ja Miska päättää sateen vaikutukseen, käyttöönottoon ja johtopäätöksiin.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Elias E: Ensin liiketoiminnan näkökulma. Kaupunkipyöräoperaattorilla on kaksi arkista ongelmaa. Ensimmäinen on tasapainotus: aamulla pyörät virtaavat yhteen suuntaan, jolloin osa asemista tyhjenee ja osa täyttyy, ja pakettiautoilla pyöriä siirretään takaisin. Toinen on kysynnän vaihtelu päivästä toiseen, joka johtuu pitkälti säästä. Raaka matkaloki ei vastaa kumpaankaan suoraan, joten asetimme kolme tutkimuskysymystä. Yksi: voiko asemat ryhmitellä rooleihin pelkän käytön perusteella? Kaksi: kuinka paljon tuntitason kysyntäennuste paranee, kun mukaan otetaan sää? Testasimme tämän rehellisesti: malli opetettiin vuodella 2024 ja testattiin koko kaudella 2025. Kolme: reagoivatko jotkin asemat tai matkatyypit sateeseen muita voimakkaammin? Oletimme, että työmatkalaiset reagoisivat vähemmän.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Elias E: Kaikki kolme lähdettä ovat avointa dataa. Matkat tulevat HSL:ltä, yksi rivi jokaisesta matkasta: ajat, asemat, matka ja kesto. Asemarekisteristä saimme koordinaatit, ja säädata on Ilmatieteen laitoksen Kaisaniemen asemalta tunneittain. Data ei ollut siistiä. Suurin virheellisten rivien ryhmä olivat alle minuutin vuokraukset: ne ovat pyöriä, jotka otettiin telineestä ja palautettiin heti, eivät oikeita matkoja. Löysimme myös väliaikaisen aseman, jonka tunnuksessa on tähti, korjaamon ja testiaseman, matkoja jotka päättyvät ennen kuin alkavat, sekä aikaleimoja ilman kellonaikaa. Siivouksen jälkeen 96 prosenttia riveistä säilyi. Elias N jatkaa tästä.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Elias N: Ennen mallinnusta katsoimme, miten kysyntä käyttäytyy. Kuvassa ovat matkat päivittäin molemmilta kausilta ja punaisella lämpötila. Käyttö kasvaa keväällä, on huipussaan kesällä ja laskee syksyllä, ja se seuraa lämpötilaa melko tarkasti. Kauden sisällä on jyrkkiä pudotuksia, ja useimmat niistä osuvat rankkasadepäiville, jotka on merkitty keltaisella. Heinäkuussa on notkahdus hyvästä säästä huolimatta, koska se on Suomen tärkein lomakuukausi eikä töihin pyöräillä. Vuorokauden sisällä arkena on kaksi huippua, kahdeksalta ja neljän–viiden aikaan, kun taas viikonloppuna on yksi leveä iltapäivähuippu. Kellonaika, päivätyyppi, vuodenaika ja sää vaikuttavat siis kaikki, mikä tukee tutkimuskysymyksiämme.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Elias N: Esikäsittelyssä viidestä miljoonasta raakarivistä tehtiin kaksi tuntitason taulukkoa: yksi asemittain ja tunneittain asemien rooleja varten, ja toinen koko järjestelmälle tunneittain, yhdistettynä säähän, ennustamista varten. Kolme ratkaisua oli tärkeimpiä. Ensimmäinen: lyhyet vuokraukset. Noin 125 000 vuokrausta kesti alle minuutin. Ne ovat heti palautettuja pyöriä, ja niiden laskeminen mukaan lisäisi keinotekoista kysyntää. Toinen: aika. Matkat ovat Helsingin paikallista aikaa ja säädata UTC-aikaa, ja Ilmatieteen laitoksen tuntiarvo merkitään tunnin loppuun. Puoli kymmeneltä alkava matka yhdistetään siis kello kymmenen havaintoon. Väärin tehtynä sää siirtyisi jopa kolme tuntia. Kolmas: asemapiirteet kuvaavat, milloin pyörät lähtevät ja mihin suuntaan ne virtaavat, eivät sitä kuinka monta niitä on. Näin asemat ryhmittyvät roolin eivätkä koon mukaan.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Elias N: Ensimmäistä kysymystä varten klusteroimme 453 asemaa k-means-menetelmällä. Jokainen kuva näyttää tyypillisen aseman yhdessä roolissa: yhtenäinen viiva on lähtevät ja katkoviiva saapuvat pyörät keskimääräisenä arkipäivänä. Aamun lähtöasemilta pyörät lähtevät aamulla. Ne ovat asuinalueita, joilta työmatkat alkavat. Aamun määränpäät ovat peilikuva: kahdeksalta asemalle saapuu keskimäärin viisi pyörää, ja iltapäivällä ne lähtevät taas. Tasapainoisilla asemilla virrat ovat suunnilleen yhtä suuret molempiin suuntiin, ja monet niistä ovat metro- ja juna-asemia. Ilta- ja viikonloppuasemia käytetään vapaa-ajalla, ja yöllisen asuinalueen ryhmä on asuinalueiden asemia, joilla on enemmän yöllisiä matkoja. Roolit ovat vakaita: kun jätämme viidenneksen asemista pois ja klusteroimme uudelleen, tulos on lähes sama, ja Ward-klusterointi on melko hyvin samaa mieltä. Veijo näyttää, missä nämä asemat sijaitsevat.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Veijo: Kartalla jokainen asema on väritetty roolinsa mukaan. Klusterointi ei käyttänyt sijaintia lainkaan, vain käyttöä, joten kartta toimii tarkistuksena sille, tarkoittavatko roolit jotain. Punaiset aamun määränpäät ovat selvin tapaus. Ne muodostavat tiiviitä ryhmiä keskustaan, Otaniemen kampukselle ja Keilaniemen toimistotorneille, Pasilaan sekä muutamalle esikaupungin juna-asemalle, kuten Malmille, jonne pyöräillään junalle. Kaikki nämä ovat paikkoja, joihin aamulla mennään. Muut roolit ovat sekaisin: samassa kaupunginosassa voi olla aamun lähtöasema ja vapaa-ajan asema muutaman sadan metrin päässä toisistaan. Siluettiarvo on matala, joten pidämme rooleja suuntauksina emmekä tiukkoina luokkina.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Veijo: Toisessa kysymyksessä ennustimme koko järjestelmän matkoja tunneittain. Jokainen malli opetettiin pelkällä vuodella 2024 ja testattiin koko kaudella 2025, joten mallin täytyy toimia vuonna, jota se ei ole koskaan nähnyt. Satunnaismetsä pelkillä kalenteritiedoilla on tuskin parempi kuin yksinkertainen keskiarvoprofiili, koska vuorokausirytmi on jo valmiiksi helppo ennustaa. Kun mukaan lisätään sää, virhe pienenee noin kolmanneksella, 109:stä 71 matkaan tunnissa, ja selitysaste R² nousee 0,81:stä 0,93:een. Ero on suurin sadetunneilla, joilla virhe pienenee 61 prosenttia. Kiinnostavaa on, että yksinkertaisempi log-lineaarinen malli on sadetunneilla kaikista paras: sadetta on opetusdatassa melko vähän, ja kiinteä prosenttivaikutus yleistyy paremmin kuin puiden jaot.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Veijo: Tässä on yksi testiviikko kesäkuulta 2025. Musta viiva on toteutuneet matkat, harmaa katkoviiva pelkkä kalenteriennuste, punainen säätiedot sisältävä ennuste, ja ylhäältä roikkuvat siniset palkit ovat sadetta. Kolmena sateisena iltapäivänä kalenterimalli odottaa tavallista päivää ja ennustaa kahdesta kolmeen kertaa liikaa matkoja. Säämalli putoaa sateen mukana, vaikka ennustaa rankimmissa kuuroissa vielä liikaa. Yhdellä sääasemalla emme näe, kattaako kuuro koko kaupungin vai vain osan siitä. Lopun kuivana viikonloppuna ennusteet ovat lähes identtiset. Miska jatkaa nyt sateen vaikutuksesta.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Miska: Kolmas kysymys oli, vaikuttaako sade joihinkin pyöräilijöihin enemmän kuin toisiin. Arvioimme vaikutuksen regressiolla, jossa tunti, päivätyyppi, kuukausi ja lämpötila on vakioitu, ja luottamusvälit on laskettu päivittäin ryvästettynä. Kokonaisuutena heikko sade vähentää matkoja noin 29 prosenttia ja runsas sade noin 49 prosenttia. Hypoteesimme oli, että työmatkalaiset pyöräilevät sateessakin ja vapaa-ajan pyöräilijät jäävät kotiin. Data sanoo ei. Kaikki viisi asemaroolia menettävät lähes saman osuuden, ja työmatka-ajat ovat yhtä herkkiä kuin viikonlopun vapaa-ajan tunnit. Selityksemme on, että Helsingissä työmatkalaisilla on hyvä kuiva vaihtoehto joukkoliikenteessä, joten kaupunkipyörällä töihin lähteminen on joka päivä erikseen tehtävä valinta. Ainoa löytämämme ero on, että työmatkat reagoivat hieman vähemmän kylmyyteen.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Miska: Miten operaattori voisi hyödyntää tätä? Ensinnäkin tasapainotus roolin mukaan. Tavallisena arkiaamuna jokainen aamun määränpääasema saa noin kahdeksan pyörää lisää, ja jokainen aamun lähtöasema menettää kolmesta neljään. Ennen seitsemää autojen kannattaa siis viedä pyöriä asuinalueiden asemille ja tyhjentää tilaa 44 määränpääasemalla, ja iltapäivällä toisin päin. Toiseksi päivän suunnittelu sääennusteen avulla. Sadepäivinä kysyntä laskee neljänneksestä puoleen, mikä vapauttaa työntekijöitä huoltotöihin, ja koska sade vaikuttaa kaikkiin asemiin samalla tavalla, yksi kerroin riittää. Kolmanneksi mallin seuranta: virhe tarkistetaan viikoittain, malli opetetaan uudelleen joka kevät ja roolit lasketaan uudelleen, kun asemia lisätään tai siirretään. Kaikki lähtötiedot ovat avointa dataa, joten putkea voi käyttää sellaisenaan.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Miska: Yhteenvetona. Yksi: pelkkä käyttödata jakaa asemat viiteen vakaaseen rooliin, ja aamun määränpäät sijaitsevat siellä, missä tehdään töitä, opiskellaan ja vaihdetaan junaan. Kaksi: sää pienentää tuntitason ennustevirhettä noin kolmanneksella kaudella, jota malli ei ollut nähnyt, ja sadetunneilla yli 60 prosenttia. Kolme: sade vähentää pyöräilyä saman verran kaikkialla, joten työmatkalaiset eivät ole sääherkkyydeltään muita kestävämpiä. Työllä on rajoituksensa. Data näyttää vain toteutuneet matkat, joten tyhjä asema piilottaa kysyntää. Yksi sääasema kattaa koko alueen, ja käytössä oli kaksi kautta. Luonteva seuraava askel olisi lisätä asemien saatavuustiedot, jotta malli oppisi todellisen kysynnän. Kiitos, vastaamme mielellämme kysymyksiin.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685800"/>
            <a:ext cx="7315200" cy="365760"/>
          </a:xfrm>
          <a:prstGeom prst="rect">
            <a:avLst/>
          </a:prstGeom>
          <a:noFill/>
          <a:ln/>
        </p:spPr>
        <p:txBody>
          <a:bodyPr wrap="square" rtlCol="0"/>
          <a:lstStyle>
            <a:lvl1pPr indent="0" marL="0">
              <a:buNone/>
              <a:defRPr lang="en-US" sz="1400" b="1"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640080" y="1097280"/>
            <a:ext cx="676656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640080" y="2880360"/>
            <a:ext cx="6766560" cy="822960"/>
          </a:xfrm>
          <a:prstGeom prst="rect">
            <a:avLst/>
          </a:prstGeom>
          <a:noFill/>
          <a:ln/>
        </p:spPr>
        <p:txBody>
          <a:bodyPr wrap="square" rtlCol="0"/>
          <a:lstStyle>
            <a:lvl1pPr indent="0" marL="0">
              <a:buNone/>
              <a:defRPr lang="en-US" sz="1900" dirty="0">
                <a:solidFill>
                  <a:schemeClr val="bg2"/>
                </a:solidFill>
              </a:defRPr>
            </a:lvl1pPr>
          </a:lstStyle>
          <a:p>
            <a:pPr indent="0" marL="0">
              <a:buNone/>
            </a:pPr>
            <a:endParaRPr lang="en-US" sz="19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rtlCol="0"/>
          <a:lstStyle>
            <a:lvl1pPr indent="0" marL="0">
              <a:buNone/>
              <a:defRPr lang="en-US" sz="1200" b="1" spc="100" kern="0" dirty="0">
                <a:solidFill>
                  <a:schemeClr val="accent2"/>
                </a:solidFill>
              </a:defRPr>
            </a:lvl1pPr>
          </a:lstStyle>
          <a:p>
            <a:pPr indent="0" marL="0">
              <a:buNone/>
            </a:pPr>
            <a:endParaRPr lang="en-US" sz="1200" dirty="0"/>
          </a:p>
        </p:txBody>
      </p:sp>
      <p:sp>
        <p:nvSpPr>
          <p:cNvPr id="3" name="Text 0"/>
          <p:cNvSpPr/>
          <p:nvPr>
            <p:ph idx="101" type="title" hasCustomPrompt="1"/>
          </p:nvPr>
        </p:nvSpPr>
        <p:spPr>
          <a:xfrm>
            <a:off x="548640" y="603504"/>
            <a:ext cx="11064240" cy="68580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4" name="Text 0"/>
          <p:cNvSpPr/>
          <p:nvPr/>
        </p:nvSpPr>
        <p:spPr>
          <a:xfrm>
            <a:off x="548640" y="6419088"/>
            <a:ext cx="4572000" cy="256032"/>
          </a:xfrm>
          <a:prstGeom prst="rect">
            <a:avLst/>
          </a:prstGeom>
          <a:noFill/>
          <a:ln/>
        </p:spPr>
        <p:txBody>
          <a:bodyPr wrap="square" lIns="0" tIns="0" rIns="0" bIns="0" rtlCol="0" anchor="ctr"/>
          <a:lstStyle/>
          <a:p>
            <a:pPr indent="0" marL="0">
              <a:buNone/>
            </a:pPr>
            <a:r>
              <a:rPr lang="en-US" sz="1000" dirty="0">
                <a:solidFill>
                  <a:schemeClr val="accent6"/>
                </a:solidFill>
              </a:rPr>
              <a:t>Helsingin kaupunkipyörät · CRISP-DM-projekti</a:t>
            </a:r>
            <a:endParaRPr lang="en-US" sz="1000" dirty="0"/>
          </a:p>
        </p:txBody>
      </p:sp>
      <p:sp>
        <p:nvSpPr>
          <p:cNvPr id="5" name="Text 1"/>
          <p:cNvSpPr/>
          <p:nvPr>
            <p:ph idx="103" type="body" hasCustomPrompt="1"/>
          </p:nvPr>
        </p:nvSpPr>
        <p:spPr>
          <a:xfrm>
            <a:off x="9034272" y="6419088"/>
            <a:ext cx="2194560" cy="256032"/>
          </a:xfrm>
          <a:prstGeom prst="rect">
            <a:avLst/>
          </a:prstGeom>
          <a:noFill/>
          <a:ln/>
        </p:spPr>
        <p:txBody>
          <a:bodyPr wrap="square" rtlCol="0"/>
          <a:lstStyle>
            <a:lvl1pPr indent="0" marL="0">
              <a:buNone/>
              <a:defRPr lang="en-US" sz="1000" b="1" dirty="0">
                <a:solidFill>
                  <a:schemeClr val="tx2"/>
                </a:solidFill>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292840" y="6419088"/>
            <a:ext cx="36576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rtlCol="0"/>
          <a:lstStyle>
            <a:lvl1pPr indent="0" marL="0">
              <a:buNone/>
              <a:defRPr lang="en-US" sz="1200" b="1" spc="1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03504"/>
            <a:ext cx="11064240" cy="68580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4" name="Text 0"/>
          <p:cNvSpPr/>
          <p:nvPr>
            <p:ph idx="102" type="body" hasCustomPrompt="1"/>
          </p:nvPr>
        </p:nvSpPr>
        <p:spPr>
          <a:xfrm>
            <a:off x="9034272" y="6419088"/>
            <a:ext cx="2194560" cy="256032"/>
          </a:xfrm>
          <a:prstGeom prst="rect">
            <a:avLst/>
          </a:prstGeom>
          <a:noFill/>
          <a:ln/>
        </p:spPr>
        <p:txBody>
          <a:bodyPr wrap="square" rtlCol="0"/>
          <a:lstStyle>
            <a:lvl1pPr indent="0" marL="0">
              <a:buNone/>
              <a:defRPr lang="en-US" sz="1000" b="1" dirty="0">
                <a:solidFill>
                  <a:schemeClr val="bg2"/>
                </a:solidFill>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292840" y="6419088"/>
            <a:ext cx="36576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419088"/>
            <a:ext cx="36576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685800"/>
            <a:ext cx="7315200" cy="365760"/>
          </a:xfrm>
          <a:prstGeom prst="rect">
            <a:avLst/>
          </a:prstGeom>
          <a:noFill/>
          <a:ln/>
        </p:spPr>
        <p:txBody>
          <a:bodyPr wrap="square" lIns="0" tIns="0" rIns="0" bIns="0" rtlCol="0"/>
          <a:lstStyle/>
          <a:p>
            <a:pPr indent="0" marL="0">
              <a:buNone/>
            </a:pPr>
            <a:r>
              <a:rPr lang="en-US" sz="1400" b="1" dirty="0">
                <a:solidFill>
                  <a:schemeClr val="accent1"/>
                </a:solidFill>
              </a:rPr>
              <a:t>DATAN KÄSITTELY JA KONEOPPIMINEN · METROPOLIA AMK</a:t>
            </a:r>
            <a:endParaRPr lang="en-US" sz="1400" dirty="0"/>
          </a:p>
        </p:txBody>
      </p:sp>
      <p:sp>
        <p:nvSpPr>
          <p:cNvPr id="3" name="Text 0"/>
          <p:cNvSpPr/>
          <p:nvPr>
            <p:ph idx="101" type="title" hasCustomPrompt="1"/>
          </p:nvPr>
        </p:nvSpPr>
        <p:spPr>
          <a:xfrm>
            <a:off x="640080" y="1097280"/>
            <a:ext cx="6766560" cy="1737360"/>
          </a:xfrm>
          <a:prstGeom prst="rect">
            <a:avLst/>
          </a:prstGeom>
          <a:noFill/>
          <a:ln/>
        </p:spPr>
        <p:txBody>
          <a:bodyPr wrap="square" lIns="0" tIns="0" rIns="0" bIns="0" rtlCol="0" anchor="t"/>
          <a:lstStyle/>
          <a:p>
            <a:pPr algn="l" indent="0" marL="0">
              <a:buNone/>
            </a:pPr>
            <a:r>
              <a:rPr lang="en-US" sz="4400" b="1" dirty="0">
                <a:solidFill>
                  <a:schemeClr val="bg1"/>
                </a:solidFill>
              </a:rPr>
              <a:t>Milloin Helsingin kaupunkipyörät liikkuvat?</a:t>
            </a:r>
            <a:endParaRPr lang="en-US" sz="4400" dirty="0"/>
          </a:p>
        </p:txBody>
      </p:sp>
      <p:sp>
        <p:nvSpPr>
          <p:cNvPr id="4" name="Text 0"/>
          <p:cNvSpPr/>
          <p:nvPr>
            <p:ph idx="102" type="body" hasCustomPrompt="1"/>
          </p:nvPr>
        </p:nvSpPr>
        <p:spPr>
          <a:xfrm>
            <a:off x="640080" y="2880360"/>
            <a:ext cx="6766560" cy="822960"/>
          </a:xfrm>
          <a:prstGeom prst="rect">
            <a:avLst/>
          </a:prstGeom>
          <a:noFill/>
          <a:ln/>
        </p:spPr>
        <p:txBody>
          <a:bodyPr wrap="square" lIns="0" tIns="0" rIns="0" bIns="0" rtlCol="0" anchor="t"/>
          <a:lstStyle/>
          <a:p>
            <a:pPr indent="0" marL="0">
              <a:buNone/>
            </a:pPr>
            <a:r>
              <a:rPr lang="en-US" sz="1900" dirty="0">
                <a:solidFill>
                  <a:schemeClr val="bg2"/>
                </a:solidFill>
              </a:rPr>
              <a:t>Asemien roolit, sää ja kysyntä 4,9 miljoonan matkan aineistossa 2024–2025</a:t>
            </a:r>
            <a:endParaRPr lang="en-US" sz="1900" dirty="0"/>
          </a:p>
        </p:txBody>
      </p:sp>
      <p:sp>
        <p:nvSpPr>
          <p:cNvPr id="5" name="date"/>
          <p:cNvSpPr txBox="1"/>
          <p:nvPr/>
        </p:nvSpPr>
        <p:spPr>
          <a:xfrm>
            <a:off x="640080" y="5989320"/>
            <a:ext cx="5486400" cy="365760"/>
          </a:xfrm>
          <a:prstGeom prst="rect">
            <a:avLst/>
          </a:prstGeom>
          <a:noFill/>
          <a:ln/>
        </p:spPr>
        <p:txBody>
          <a:bodyPr wrap="square" lIns="0" tIns="0" rIns="0" bIns="0" rtlCol="0" anchor="ctr"/>
          <a:lstStyle/>
          <a:p>
            <a:pPr indent="0" marL="0">
              <a:buNone/>
            </a:pPr>
            <a:r>
              <a:rPr lang="en-US" sz="1400" dirty="0">
                <a:solidFill>
                  <a:schemeClr val="accent6"/>
                </a:solidFill>
              </a:rPr>
              <a:t>Projektiseminaari · 9.10.2026</a:t>
            </a:r>
            <a:endParaRPr lang="en-US" sz="1400" dirty="0"/>
          </a:p>
        </p:txBody>
      </p:sp>
      <p:sp>
        <p:nvSpPr>
          <p:cNvPr id="6" name="speaker panel"/>
          <p:cNvSpPr/>
          <p:nvPr/>
        </p:nvSpPr>
        <p:spPr>
          <a:xfrm>
            <a:off x="7818120" y="1051560"/>
            <a:ext cx="3794760" cy="4480560"/>
          </a:xfrm>
          <a:prstGeom prst="roundRect">
            <a:avLst>
              <a:gd name="adj" fmla="val 1928"/>
            </a:avLst>
          </a:prstGeom>
          <a:solidFill>
            <a:srgbClr val="2E3F48"/>
          </a:solidFill>
          <a:ln w="12700">
            <a:solidFill>
              <a:srgbClr val="2E3F48"/>
            </a:solidFill>
            <a:prstDash val="solid"/>
          </a:ln>
        </p:spPr>
      </p:sp>
      <p:sp>
        <p:nvSpPr>
          <p:cNvPr id="7" name="panel title"/>
          <p:cNvSpPr txBox="1"/>
          <p:nvPr/>
        </p:nvSpPr>
        <p:spPr>
          <a:xfrm>
            <a:off x="8092440" y="1234440"/>
            <a:ext cx="3291840" cy="365760"/>
          </a:xfrm>
          <a:prstGeom prst="rect">
            <a:avLst/>
          </a:prstGeom>
          <a:noFill/>
          <a:ln/>
        </p:spPr>
        <p:txBody>
          <a:bodyPr wrap="square" lIns="0" tIns="0" rIns="0" bIns="0" rtlCol="0" anchor="ctr"/>
          <a:lstStyle/>
          <a:p>
            <a:pPr indent="0" marL="0">
              <a:buNone/>
            </a:pPr>
            <a:r>
              <a:rPr lang="en-US" sz="1500" b="1" dirty="0">
                <a:solidFill>
                  <a:schemeClr val="accent1"/>
                </a:solidFill>
              </a:rPr>
              <a:t>Esittäjät</a:t>
            </a:r>
            <a:endParaRPr lang="en-US" sz="1500" dirty="0"/>
          </a:p>
        </p:txBody>
      </p:sp>
      <p:sp>
        <p:nvSpPr>
          <p:cNvPr id="8" name="dot 1"/>
          <p:cNvSpPr/>
          <p:nvPr/>
        </p:nvSpPr>
        <p:spPr>
          <a:xfrm>
            <a:off x="8092440" y="1828800"/>
            <a:ext cx="384048" cy="384048"/>
          </a:xfrm>
          <a:prstGeom prst="ellipse">
            <a:avLst/>
          </a:prstGeom>
          <a:solidFill>
            <a:schemeClr val="accent1"/>
          </a:solidFill>
          <a:ln w="12700">
            <a:solidFill>
              <a:schemeClr val="accent1"/>
            </a:solidFill>
            <a:prstDash val="solid"/>
          </a:ln>
        </p:spPr>
      </p:sp>
      <p:sp>
        <p:nvSpPr>
          <p:cNvPr id="9" name="dot label 1"/>
          <p:cNvSpPr txBox="1"/>
          <p:nvPr/>
        </p:nvSpPr>
        <p:spPr>
          <a:xfrm>
            <a:off x="8092440" y="1828800"/>
            <a:ext cx="384048" cy="384048"/>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10" name="speaker Elias E"/>
          <p:cNvSpPr txBox="1"/>
          <p:nvPr/>
        </p:nvSpPr>
        <p:spPr>
          <a:xfrm>
            <a:off x="8641080" y="1783080"/>
            <a:ext cx="2834640" cy="777240"/>
          </a:xfrm>
          <a:prstGeom prst="rect">
            <a:avLst/>
          </a:prstGeom>
          <a:noFill/>
          <a:ln/>
        </p:spPr>
        <p:txBody>
          <a:bodyPr wrap="square" lIns="0" tIns="0" rIns="0" bIns="0" rtlCol="0" anchor="t"/>
          <a:lstStyle/>
          <a:p>
            <a:pPr indent="0" marL="0">
              <a:buNone/>
            </a:pPr>
            <a:r>
              <a:rPr lang="en-US" sz="1600" b="1" dirty="0">
                <a:solidFill>
                  <a:schemeClr val="bg1"/>
                </a:solidFill>
              </a:rPr>
              <a:t>Elias E</a:t>
            </a:r>
            <a:endParaRPr lang="en-US" sz="1600" dirty="0"/>
          </a:p>
          <a:p>
            <a:pPr indent="0" marL="0">
              <a:buNone/>
            </a:pPr>
            <a:r>
              <a:rPr lang="en-US" sz="1300" dirty="0">
                <a:solidFill>
                  <a:schemeClr val="bg2"/>
                </a:solidFill>
              </a:rPr>
              <a:t>Kysymykset ja aineisto</a:t>
            </a:r>
            <a:endParaRPr lang="en-US" sz="1600" dirty="0"/>
          </a:p>
        </p:txBody>
      </p:sp>
      <p:sp>
        <p:nvSpPr>
          <p:cNvPr id="11" name="dot 2"/>
          <p:cNvSpPr/>
          <p:nvPr/>
        </p:nvSpPr>
        <p:spPr>
          <a:xfrm>
            <a:off x="8092440" y="2743200"/>
            <a:ext cx="384048" cy="384048"/>
          </a:xfrm>
          <a:prstGeom prst="ellipse">
            <a:avLst/>
          </a:prstGeom>
          <a:solidFill>
            <a:schemeClr val="accent1"/>
          </a:solidFill>
          <a:ln w="12700">
            <a:solidFill>
              <a:schemeClr val="accent1"/>
            </a:solidFill>
            <a:prstDash val="solid"/>
          </a:ln>
        </p:spPr>
      </p:sp>
      <p:sp>
        <p:nvSpPr>
          <p:cNvPr id="12" name="dot label 2"/>
          <p:cNvSpPr txBox="1"/>
          <p:nvPr/>
        </p:nvSpPr>
        <p:spPr>
          <a:xfrm>
            <a:off x="8092440" y="2743200"/>
            <a:ext cx="384048" cy="384048"/>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13" name="speaker Elias N"/>
          <p:cNvSpPr txBox="1"/>
          <p:nvPr/>
        </p:nvSpPr>
        <p:spPr>
          <a:xfrm>
            <a:off x="8641080" y="2697480"/>
            <a:ext cx="2834640" cy="777240"/>
          </a:xfrm>
          <a:prstGeom prst="rect">
            <a:avLst/>
          </a:prstGeom>
          <a:noFill/>
          <a:ln/>
        </p:spPr>
        <p:txBody>
          <a:bodyPr wrap="square" lIns="0" tIns="0" rIns="0" bIns="0" rtlCol="0" anchor="t"/>
          <a:lstStyle/>
          <a:p>
            <a:pPr indent="0" marL="0">
              <a:buNone/>
            </a:pPr>
            <a:r>
              <a:rPr lang="en-US" sz="1600" b="1" dirty="0">
                <a:solidFill>
                  <a:schemeClr val="bg1"/>
                </a:solidFill>
              </a:rPr>
              <a:t>Elias N</a:t>
            </a:r>
            <a:endParaRPr lang="en-US" sz="1600" dirty="0"/>
          </a:p>
          <a:p>
            <a:pPr indent="0" marL="0">
              <a:buNone/>
            </a:pPr>
            <a:r>
              <a:rPr lang="en-US" sz="1300" dirty="0">
                <a:solidFill>
                  <a:schemeClr val="bg2"/>
                </a:solidFill>
              </a:rPr>
              <a:t>Aineiston tutkiminen, esikäsittely, asemien roolit</a:t>
            </a:r>
            <a:endParaRPr lang="en-US" sz="1600" dirty="0"/>
          </a:p>
        </p:txBody>
      </p:sp>
      <p:sp>
        <p:nvSpPr>
          <p:cNvPr id="14" name="dot 3"/>
          <p:cNvSpPr/>
          <p:nvPr/>
        </p:nvSpPr>
        <p:spPr>
          <a:xfrm>
            <a:off x="8092440" y="3657600"/>
            <a:ext cx="384048" cy="384048"/>
          </a:xfrm>
          <a:prstGeom prst="ellipse">
            <a:avLst/>
          </a:prstGeom>
          <a:solidFill>
            <a:schemeClr val="accent1"/>
          </a:solidFill>
          <a:ln w="12700">
            <a:solidFill>
              <a:schemeClr val="accent1"/>
            </a:solidFill>
            <a:prstDash val="solid"/>
          </a:ln>
        </p:spPr>
      </p:sp>
      <p:sp>
        <p:nvSpPr>
          <p:cNvPr id="15" name="dot label 3"/>
          <p:cNvSpPr txBox="1"/>
          <p:nvPr/>
        </p:nvSpPr>
        <p:spPr>
          <a:xfrm>
            <a:off x="8092440" y="3657600"/>
            <a:ext cx="384048" cy="384048"/>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6" name="speaker Veijo"/>
          <p:cNvSpPr txBox="1"/>
          <p:nvPr/>
        </p:nvSpPr>
        <p:spPr>
          <a:xfrm>
            <a:off x="8641080" y="3611880"/>
            <a:ext cx="2834640" cy="777240"/>
          </a:xfrm>
          <a:prstGeom prst="rect">
            <a:avLst/>
          </a:prstGeom>
          <a:noFill/>
          <a:ln/>
        </p:spPr>
        <p:txBody>
          <a:bodyPr wrap="square" lIns="0" tIns="0" rIns="0" bIns="0" rtlCol="0" anchor="t"/>
          <a:lstStyle/>
          <a:p>
            <a:pPr indent="0" marL="0">
              <a:buNone/>
            </a:pPr>
            <a:r>
              <a:rPr lang="en-US" sz="1600" b="1" dirty="0">
                <a:solidFill>
                  <a:schemeClr val="bg1"/>
                </a:solidFill>
              </a:rPr>
              <a:t>Veijo</a:t>
            </a:r>
            <a:endParaRPr lang="en-US" sz="1600" dirty="0"/>
          </a:p>
          <a:p>
            <a:pPr indent="0" marL="0">
              <a:buNone/>
            </a:pPr>
            <a:r>
              <a:rPr lang="en-US" sz="1300" dirty="0">
                <a:solidFill>
                  <a:schemeClr val="bg2"/>
                </a:solidFill>
              </a:rPr>
              <a:t>Roolikartta ja kysyntäennuste</a:t>
            </a:r>
            <a:endParaRPr lang="en-US" sz="1600" dirty="0"/>
          </a:p>
        </p:txBody>
      </p:sp>
      <p:sp>
        <p:nvSpPr>
          <p:cNvPr id="17" name="dot 4"/>
          <p:cNvSpPr/>
          <p:nvPr/>
        </p:nvSpPr>
        <p:spPr>
          <a:xfrm>
            <a:off x="8092440" y="4572000"/>
            <a:ext cx="384048" cy="384048"/>
          </a:xfrm>
          <a:prstGeom prst="ellipse">
            <a:avLst/>
          </a:prstGeom>
          <a:solidFill>
            <a:schemeClr val="accent1"/>
          </a:solidFill>
          <a:ln w="12700">
            <a:solidFill>
              <a:schemeClr val="accent1"/>
            </a:solidFill>
            <a:prstDash val="solid"/>
          </a:ln>
        </p:spPr>
      </p:sp>
      <p:sp>
        <p:nvSpPr>
          <p:cNvPr id="18" name="dot label 4"/>
          <p:cNvSpPr txBox="1"/>
          <p:nvPr/>
        </p:nvSpPr>
        <p:spPr>
          <a:xfrm>
            <a:off x="8092440" y="4572000"/>
            <a:ext cx="384048" cy="384048"/>
          </a:xfrm>
          <a:prstGeom prst="rect">
            <a:avLst/>
          </a:prstGeom>
          <a:noFill/>
          <a:ln/>
        </p:spPr>
        <p:txBody>
          <a:bodyPr wrap="square" lIns="0" tIns="0" rIns="0" bIns="0" rtlCol="0" anchor="ctr"/>
          <a:lstStyle/>
          <a:p>
            <a:pPr algn="ctr" indent="0" marL="0">
              <a:buNone/>
            </a:pPr>
            <a:r>
              <a:rPr lang="en-US" sz="1800" b="1" dirty="0">
                <a:solidFill>
                  <a:schemeClr val="tx1"/>
                </a:solidFill>
              </a:rPr>
              <a:t>4</a:t>
            </a:r>
            <a:endParaRPr lang="en-US" sz="1800" dirty="0"/>
          </a:p>
        </p:txBody>
      </p:sp>
      <p:sp>
        <p:nvSpPr>
          <p:cNvPr id="19" name="speaker Miska"/>
          <p:cNvSpPr txBox="1"/>
          <p:nvPr/>
        </p:nvSpPr>
        <p:spPr>
          <a:xfrm>
            <a:off x="8641080" y="4526280"/>
            <a:ext cx="2834640" cy="777240"/>
          </a:xfrm>
          <a:prstGeom prst="rect">
            <a:avLst/>
          </a:prstGeom>
          <a:noFill/>
          <a:ln/>
        </p:spPr>
        <p:txBody>
          <a:bodyPr wrap="square" lIns="0" tIns="0" rIns="0" bIns="0" rtlCol="0" anchor="t"/>
          <a:lstStyle/>
          <a:p>
            <a:pPr indent="0" marL="0">
              <a:buNone/>
            </a:pPr>
            <a:r>
              <a:rPr lang="en-US" sz="1600" b="1" dirty="0">
                <a:solidFill>
                  <a:schemeClr val="bg1"/>
                </a:solidFill>
              </a:rPr>
              <a:t>Miska</a:t>
            </a:r>
            <a:endParaRPr lang="en-US" sz="1600" dirty="0"/>
          </a:p>
          <a:p>
            <a:pPr indent="0" marL="0">
              <a:buNone/>
            </a:pPr>
            <a:r>
              <a:rPr lang="en-US" sz="1300" dirty="0">
                <a:solidFill>
                  <a:schemeClr val="bg2"/>
                </a:solidFill>
              </a:rPr>
              <a:t>Sateen vaikutus, käyttöönotto, johtopäätökset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lIns="0" tIns="0" rIns="0" bIns="0" rtlCol="0"/>
          <a:lstStyle/>
          <a:p>
            <a:pPr indent="0" marL="0">
              <a:buNone/>
            </a:pPr>
            <a:r>
              <a:rPr lang="en-US" sz="1200" b="1" spc="100" kern="0" dirty="0">
                <a:solidFill>
                  <a:schemeClr val="accent2"/>
                </a:solidFill>
              </a:rPr>
              <a:t>1 · LIIKETOIMINNAN YMMÄRTÄMINEN</a:t>
            </a:r>
            <a:endParaRPr lang="en-US" sz="1200" dirty="0"/>
          </a:p>
        </p:txBody>
      </p:sp>
      <p:sp>
        <p:nvSpPr>
          <p:cNvPr id="3" name="Text 0"/>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000" b="1" dirty="0">
                <a:solidFill>
                  <a:schemeClr val="tx1"/>
                </a:solidFill>
              </a:rPr>
              <a:t>Operaattori tarvitsee vastauksia, joita matkadata ei suoraan kerro</a:t>
            </a:r>
            <a:endParaRPr lang="en-US" sz="3000" dirty="0"/>
          </a:p>
        </p:txBody>
      </p:sp>
      <p:sp>
        <p:nvSpPr>
          <p:cNvPr id="4" name="speaker dot"/>
          <p:cNvSpPr/>
          <p:nvPr/>
        </p:nvSpPr>
        <p:spPr>
          <a:xfrm>
            <a:off x="8796528" y="6437376"/>
            <a:ext cx="155448" cy="155448"/>
          </a:xfrm>
          <a:prstGeom prst="ellipse">
            <a:avLst/>
          </a:prstGeom>
          <a:solidFill>
            <a:schemeClr val="accent1"/>
          </a:solidFill>
          <a:ln w="12700">
            <a:solidFill>
              <a:schemeClr val="accent1"/>
            </a:solidFill>
            <a:prstDash val="solid"/>
          </a:ln>
        </p:spPr>
      </p:sp>
      <p:sp>
        <p:nvSpPr>
          <p:cNvPr id="5" name="Text 1"/>
          <p:cNvSpPr/>
          <p:nvPr>
            <p:ph idx="103" type="body" hasCustomPrompt="1"/>
          </p:nvPr>
        </p:nvSpPr>
        <p:spPr>
          <a:xfrm>
            <a:off x="9034272" y="6419088"/>
            <a:ext cx="2194560" cy="256032"/>
          </a:xfrm>
          <a:prstGeom prst="rect">
            <a:avLst/>
          </a:prstGeom>
          <a:noFill/>
          <a:ln/>
        </p:spPr>
        <p:txBody>
          <a:bodyPr wrap="square" lIns="0" tIns="0" rIns="0" bIns="0" rtlCol="0"/>
          <a:lstStyle/>
          <a:p>
            <a:pPr indent="0" marL="0">
              <a:buNone/>
            </a:pPr>
            <a:r>
              <a:rPr lang="en-US" sz="1000" b="1" dirty="0">
                <a:solidFill>
                  <a:schemeClr val="tx2"/>
                </a:solidFill>
              </a:rPr>
              <a:t>Esittäjä: Elias E</a:t>
            </a:r>
            <a:endParaRPr lang="en-US" sz="1000" dirty="0"/>
          </a:p>
        </p:txBody>
      </p:sp>
      <p:sp>
        <p:nvSpPr>
          <p:cNvPr id="6" name="problem 1"/>
          <p:cNvSpPr/>
          <p:nvPr/>
        </p:nvSpPr>
        <p:spPr>
          <a:xfrm>
            <a:off x="548640" y="1600200"/>
            <a:ext cx="4480560" cy="1874520"/>
          </a:xfrm>
          <a:prstGeom prst="roundRect">
            <a:avLst>
              <a:gd name="adj" fmla="val 3902"/>
            </a:avLst>
          </a:prstGeom>
          <a:solidFill>
            <a:schemeClr val="bg2"/>
          </a:solidFill>
          <a:ln w="12700">
            <a:solidFill>
              <a:schemeClr val="bg2"/>
            </a:solidFill>
            <a:prstDash val="solid"/>
          </a:ln>
        </p:spPr>
      </p:sp>
      <p:sp>
        <p:nvSpPr>
          <p:cNvPr id="7" name="problem text 1"/>
          <p:cNvSpPr txBox="1"/>
          <p:nvPr/>
        </p:nvSpPr>
        <p:spPr>
          <a:xfrm>
            <a:off x="822960" y="1828800"/>
            <a:ext cx="3931920" cy="1463040"/>
          </a:xfrm>
          <a:prstGeom prst="rect">
            <a:avLst/>
          </a:prstGeom>
          <a:noFill/>
          <a:ln/>
        </p:spPr>
        <p:txBody>
          <a:bodyPr wrap="square" lIns="0" tIns="0" rIns="0" bIns="0" rtlCol="0" anchor="t"/>
          <a:lstStyle/>
          <a:p>
            <a:pPr indent="0" marL="0">
              <a:spcAft>
                <a:spcPts val="600"/>
              </a:spcAft>
              <a:buNone/>
            </a:pPr>
            <a:r>
              <a:rPr lang="en-US" sz="2000" b="1" dirty="0">
                <a:solidFill>
                  <a:schemeClr val="tx1"/>
                </a:solidFill>
              </a:rPr>
              <a:t>Tasapainotus</a:t>
            </a:r>
            <a:endParaRPr lang="en-US" sz="2000" dirty="0"/>
          </a:p>
          <a:p>
            <a:pPr indent="0" marL="0">
              <a:spcAft>
                <a:spcPts val="600"/>
              </a:spcAft>
              <a:buNone/>
            </a:pPr>
            <a:r>
              <a:rPr lang="en-US" sz="1600" dirty="0">
                <a:solidFill>
                  <a:schemeClr val="tx2"/>
                </a:solidFill>
              </a:rPr>
              <a:t>Aamulla pyörät kasautuvat joillekin asemille ja loppuvat toisilta. Mille asemille ja mihin aikaan?</a:t>
            </a:r>
            <a:endParaRPr lang="en-US" sz="2000" dirty="0"/>
          </a:p>
        </p:txBody>
      </p:sp>
      <p:sp>
        <p:nvSpPr>
          <p:cNvPr id="8" name="problem 2"/>
          <p:cNvSpPr/>
          <p:nvPr/>
        </p:nvSpPr>
        <p:spPr>
          <a:xfrm>
            <a:off x="548640" y="3749040"/>
            <a:ext cx="4480560" cy="1874520"/>
          </a:xfrm>
          <a:prstGeom prst="roundRect">
            <a:avLst>
              <a:gd name="adj" fmla="val 3902"/>
            </a:avLst>
          </a:prstGeom>
          <a:solidFill>
            <a:schemeClr val="bg2"/>
          </a:solidFill>
          <a:ln w="12700">
            <a:solidFill>
              <a:schemeClr val="bg2"/>
            </a:solidFill>
            <a:prstDash val="solid"/>
          </a:ln>
        </p:spPr>
      </p:sp>
      <p:sp>
        <p:nvSpPr>
          <p:cNvPr id="9" name="problem text 2"/>
          <p:cNvSpPr txBox="1"/>
          <p:nvPr/>
        </p:nvSpPr>
        <p:spPr>
          <a:xfrm>
            <a:off x="822960" y="3977640"/>
            <a:ext cx="3931920" cy="1463040"/>
          </a:xfrm>
          <a:prstGeom prst="rect">
            <a:avLst/>
          </a:prstGeom>
          <a:noFill/>
          <a:ln/>
        </p:spPr>
        <p:txBody>
          <a:bodyPr wrap="square" lIns="0" tIns="0" rIns="0" bIns="0" rtlCol="0" anchor="t"/>
          <a:lstStyle/>
          <a:p>
            <a:pPr indent="0" marL="0">
              <a:spcAft>
                <a:spcPts val="600"/>
              </a:spcAft>
              <a:buNone/>
            </a:pPr>
            <a:r>
              <a:rPr lang="en-US" sz="2000" b="1" dirty="0">
                <a:solidFill>
                  <a:schemeClr val="tx1"/>
                </a:solidFill>
              </a:rPr>
              <a:t>Sääriippuvainen kysyntä</a:t>
            </a:r>
            <a:endParaRPr lang="en-US" sz="2000" dirty="0"/>
          </a:p>
          <a:p>
            <a:pPr indent="0" marL="0">
              <a:spcAft>
                <a:spcPts val="600"/>
              </a:spcAft>
              <a:buNone/>
            </a:pPr>
            <a:r>
              <a:rPr lang="en-US" sz="1600" dirty="0">
                <a:solidFill>
                  <a:schemeClr val="tx2"/>
                </a:solidFill>
              </a:rPr>
              <a:t>Käyttö vaihtelee paljon päivästä toiseen. Kuinka paljon siitä sääennuste voisi selittää?</a:t>
            </a:r>
            <a:endParaRPr lang="en-US" sz="2000" dirty="0"/>
          </a:p>
        </p:txBody>
      </p:sp>
      <p:sp>
        <p:nvSpPr>
          <p:cNvPr id="10" name="rq heading"/>
          <p:cNvSpPr txBox="1"/>
          <p:nvPr/>
        </p:nvSpPr>
        <p:spPr>
          <a:xfrm>
            <a:off x="5577840" y="1600200"/>
            <a:ext cx="5943600" cy="411480"/>
          </a:xfrm>
          <a:prstGeom prst="rect">
            <a:avLst/>
          </a:prstGeom>
          <a:noFill/>
          <a:ln/>
        </p:spPr>
        <p:txBody>
          <a:bodyPr wrap="square" lIns="0" tIns="0" rIns="0" bIns="0" rtlCol="0" anchor="ctr"/>
          <a:lstStyle/>
          <a:p>
            <a:pPr indent="0" marL="0">
              <a:buNone/>
            </a:pPr>
            <a:r>
              <a:rPr lang="en-US" sz="2000" b="1" dirty="0">
                <a:solidFill>
                  <a:schemeClr val="tx1"/>
                </a:solidFill>
              </a:rPr>
              <a:t>Tutkimuskysymykset</a:t>
            </a:r>
            <a:endParaRPr lang="en-US" sz="2000" dirty="0"/>
          </a:p>
        </p:txBody>
      </p:sp>
      <p:sp>
        <p:nvSpPr>
          <p:cNvPr id="11" name="dot 1"/>
          <p:cNvSpPr/>
          <p:nvPr/>
        </p:nvSpPr>
        <p:spPr>
          <a:xfrm>
            <a:off x="5577840" y="2258568"/>
            <a:ext cx="438912" cy="438912"/>
          </a:xfrm>
          <a:prstGeom prst="ellipse">
            <a:avLst/>
          </a:prstGeom>
          <a:solidFill>
            <a:schemeClr val="accent1"/>
          </a:solidFill>
          <a:ln w="12700">
            <a:solidFill>
              <a:schemeClr val="accent1"/>
            </a:solidFill>
            <a:prstDash val="solid"/>
          </a:ln>
        </p:spPr>
      </p:sp>
      <p:sp>
        <p:nvSpPr>
          <p:cNvPr id="12" name="dot label 1"/>
          <p:cNvSpPr txBox="1"/>
          <p:nvPr/>
        </p:nvSpPr>
        <p:spPr>
          <a:xfrm>
            <a:off x="5577840" y="2258568"/>
            <a:ext cx="438912" cy="438912"/>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13" name="rq 1"/>
          <p:cNvSpPr txBox="1"/>
          <p:nvPr/>
        </p:nvSpPr>
        <p:spPr>
          <a:xfrm>
            <a:off x="6217920" y="2240280"/>
            <a:ext cx="5394960" cy="105156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Onko asemilla selkeitä käyttörooleja?</a:t>
            </a:r>
            <a:endParaRPr lang="en-US" sz="1700" dirty="0"/>
          </a:p>
          <a:p>
            <a:pPr indent="0" marL="0">
              <a:spcAft>
                <a:spcPts val="400"/>
              </a:spcAft>
              <a:buNone/>
            </a:pPr>
            <a:r>
              <a:rPr lang="en-US" sz="1400" dirty="0">
                <a:solidFill>
                  <a:schemeClr val="accent6"/>
                </a:solidFill>
              </a:rPr>
              <a:t>k-means- ja Ward-klusterointi asemien aikaprofiileista</a:t>
            </a:r>
            <a:endParaRPr lang="en-US" sz="1700" dirty="0"/>
          </a:p>
        </p:txBody>
      </p:sp>
      <p:sp>
        <p:nvSpPr>
          <p:cNvPr id="14" name="dot 2"/>
          <p:cNvSpPr/>
          <p:nvPr/>
        </p:nvSpPr>
        <p:spPr>
          <a:xfrm>
            <a:off x="5577840" y="3447288"/>
            <a:ext cx="438912" cy="438912"/>
          </a:xfrm>
          <a:prstGeom prst="ellipse">
            <a:avLst/>
          </a:prstGeom>
          <a:solidFill>
            <a:schemeClr val="accent1"/>
          </a:solidFill>
          <a:ln w="12700">
            <a:solidFill>
              <a:schemeClr val="accent1"/>
            </a:solidFill>
            <a:prstDash val="solid"/>
          </a:ln>
        </p:spPr>
      </p:sp>
      <p:sp>
        <p:nvSpPr>
          <p:cNvPr id="15" name="dot label 2"/>
          <p:cNvSpPr txBox="1"/>
          <p:nvPr/>
        </p:nvSpPr>
        <p:spPr>
          <a:xfrm>
            <a:off x="5577840" y="3447288"/>
            <a:ext cx="438912" cy="438912"/>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16" name="rq 2"/>
          <p:cNvSpPr txBox="1"/>
          <p:nvPr/>
        </p:nvSpPr>
        <p:spPr>
          <a:xfrm>
            <a:off x="6217920" y="3429000"/>
            <a:ext cx="5394960" cy="105156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Kuinka paljon sää parantaa tuntitason kysyntäennustetta?</a:t>
            </a:r>
            <a:endParaRPr lang="en-US" sz="1700" dirty="0"/>
          </a:p>
          <a:p>
            <a:pPr indent="0" marL="0">
              <a:spcAft>
                <a:spcPts val="400"/>
              </a:spcAft>
              <a:buNone/>
            </a:pPr>
            <a:r>
              <a:rPr lang="en-US" sz="1400" dirty="0">
                <a:solidFill>
                  <a:schemeClr val="accent6"/>
                </a:solidFill>
              </a:rPr>
              <a:t>Satunnaismetsä ja log-lineaarinen regressio · opetus 2024, testaus 2025</a:t>
            </a:r>
            <a:endParaRPr lang="en-US" sz="1700" dirty="0"/>
          </a:p>
        </p:txBody>
      </p:sp>
      <p:sp>
        <p:nvSpPr>
          <p:cNvPr id="17" name="dot 3"/>
          <p:cNvSpPr/>
          <p:nvPr/>
        </p:nvSpPr>
        <p:spPr>
          <a:xfrm>
            <a:off x="5577840" y="4636008"/>
            <a:ext cx="438912" cy="438912"/>
          </a:xfrm>
          <a:prstGeom prst="ellipse">
            <a:avLst/>
          </a:prstGeom>
          <a:solidFill>
            <a:schemeClr val="accent1"/>
          </a:solidFill>
          <a:ln w="12700">
            <a:solidFill>
              <a:schemeClr val="accent1"/>
            </a:solidFill>
            <a:prstDash val="solid"/>
          </a:ln>
        </p:spPr>
      </p:sp>
      <p:sp>
        <p:nvSpPr>
          <p:cNvPr id="18" name="dot label 3"/>
          <p:cNvSpPr txBox="1"/>
          <p:nvPr/>
        </p:nvSpPr>
        <p:spPr>
          <a:xfrm>
            <a:off x="5577840" y="4636008"/>
            <a:ext cx="438912" cy="438912"/>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9" name="rq 3"/>
          <p:cNvSpPr txBox="1"/>
          <p:nvPr/>
        </p:nvSpPr>
        <p:spPr>
          <a:xfrm>
            <a:off x="6217920" y="4617720"/>
            <a:ext cx="5394960" cy="105156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Reagoivatko jotkin asemat tai matkatyypit sateeseen muita voimakkaammin?</a:t>
            </a:r>
            <a:endParaRPr lang="en-US" sz="1700" dirty="0"/>
          </a:p>
          <a:p>
            <a:pPr indent="0" marL="0">
              <a:spcAft>
                <a:spcPts val="400"/>
              </a:spcAft>
              <a:buNone/>
            </a:pPr>
            <a:r>
              <a:rPr lang="en-US" sz="1400" dirty="0">
                <a:solidFill>
                  <a:schemeClr val="accent6"/>
                </a:solidFill>
              </a:rPr>
              <a:t>Regressio kalenterivakioinnilla ja 95 %:n luottamusväleillä</a:t>
            </a:r>
            <a:endParaRPr lang="en-US" sz="1700" dirty="0"/>
          </a:p>
        </p:txBody>
      </p:sp>
      <p:sp>
        <p:nvSpPr>
          <p:cNvPr id="25" name="Slide Number Placeholder 0"/>
          <p:cNvSpPr>
            <a:spLocks noGrp="1"/>
          </p:cNvSpPr>
          <p:nvPr>
            <p:ph type="sldNum" sz="quarter" idx="4294967295"/>
          </p:nvPr>
        </p:nvSpPr>
        <p:spPr>
          <a:xfrm>
            <a:off x="11292840" y="6419088"/>
            <a:ext cx="36576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lIns="0" tIns="0" rIns="0" bIns="0" rtlCol="0"/>
          <a:lstStyle/>
          <a:p>
            <a:pPr indent="0" marL="0">
              <a:buNone/>
            </a:pPr>
            <a:r>
              <a:rPr lang="en-US" sz="1200" b="1" spc="100" kern="0" dirty="0">
                <a:solidFill>
                  <a:schemeClr val="accent2"/>
                </a:solidFill>
              </a:rPr>
              <a:t>2 · DATAN YMMÄRTÄMINEN</a:t>
            </a:r>
            <a:endParaRPr lang="en-US" sz="1200" dirty="0"/>
          </a:p>
        </p:txBody>
      </p:sp>
      <p:sp>
        <p:nvSpPr>
          <p:cNvPr id="3" name="Text 0"/>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000" b="1" dirty="0">
                <a:solidFill>
                  <a:schemeClr val="tx1"/>
                </a:solidFill>
              </a:rPr>
              <a:t>Kolme avointa aineistoa, siivouksen jälkeen 4,9 miljoonaa matkaa</a:t>
            </a:r>
            <a:endParaRPr lang="en-US" sz="3000" dirty="0"/>
          </a:p>
        </p:txBody>
      </p:sp>
      <p:sp>
        <p:nvSpPr>
          <p:cNvPr id="4" name="speaker dot"/>
          <p:cNvSpPr/>
          <p:nvPr/>
        </p:nvSpPr>
        <p:spPr>
          <a:xfrm>
            <a:off x="8796528" y="6437376"/>
            <a:ext cx="155448" cy="155448"/>
          </a:xfrm>
          <a:prstGeom prst="ellipse">
            <a:avLst/>
          </a:prstGeom>
          <a:solidFill>
            <a:schemeClr val="accent1"/>
          </a:solidFill>
          <a:ln w="12700">
            <a:solidFill>
              <a:schemeClr val="accent1"/>
            </a:solidFill>
            <a:prstDash val="solid"/>
          </a:ln>
        </p:spPr>
      </p:sp>
      <p:sp>
        <p:nvSpPr>
          <p:cNvPr id="5" name="Text 1"/>
          <p:cNvSpPr/>
          <p:nvPr>
            <p:ph idx="103" type="body" hasCustomPrompt="1"/>
          </p:nvPr>
        </p:nvSpPr>
        <p:spPr>
          <a:xfrm>
            <a:off x="9034272" y="6419088"/>
            <a:ext cx="2194560" cy="256032"/>
          </a:xfrm>
          <a:prstGeom prst="rect">
            <a:avLst/>
          </a:prstGeom>
          <a:noFill/>
          <a:ln/>
        </p:spPr>
        <p:txBody>
          <a:bodyPr wrap="square" lIns="0" tIns="0" rIns="0" bIns="0" rtlCol="0"/>
          <a:lstStyle/>
          <a:p>
            <a:pPr indent="0" marL="0">
              <a:buNone/>
            </a:pPr>
            <a:r>
              <a:rPr lang="en-US" sz="1000" b="1" dirty="0">
                <a:solidFill>
                  <a:schemeClr val="tx2"/>
                </a:solidFill>
              </a:rPr>
              <a:t>Esittäjä: Elias E</a:t>
            </a:r>
            <a:endParaRPr lang="en-US" sz="1000" dirty="0"/>
          </a:p>
        </p:txBody>
      </p:sp>
      <p:sp>
        <p:nvSpPr>
          <p:cNvPr id="6" name="source 1"/>
          <p:cNvSpPr/>
          <p:nvPr/>
        </p:nvSpPr>
        <p:spPr>
          <a:xfrm>
            <a:off x="548640" y="1554480"/>
            <a:ext cx="3474720" cy="1691640"/>
          </a:xfrm>
          <a:prstGeom prst="roundRect">
            <a:avLst>
              <a:gd name="adj" fmla="val 4324"/>
            </a:avLst>
          </a:prstGeom>
          <a:solidFill>
            <a:schemeClr val="bg2"/>
          </a:solidFill>
          <a:ln w="12700">
            <a:solidFill>
              <a:schemeClr val="bg2"/>
            </a:solidFill>
            <a:prstDash val="solid"/>
          </a:ln>
        </p:spPr>
      </p:sp>
      <p:sp>
        <p:nvSpPr>
          <p:cNvPr id="7" name="source number 1"/>
          <p:cNvSpPr txBox="1"/>
          <p:nvPr/>
        </p:nvSpPr>
        <p:spPr>
          <a:xfrm>
            <a:off x="822960" y="1691640"/>
            <a:ext cx="3017520" cy="685800"/>
          </a:xfrm>
          <a:prstGeom prst="rect">
            <a:avLst/>
          </a:prstGeom>
          <a:noFill/>
          <a:ln/>
        </p:spPr>
        <p:txBody>
          <a:bodyPr wrap="square" lIns="0" tIns="0" rIns="0" bIns="0" rtlCol="0" anchor="ctr"/>
          <a:lstStyle/>
          <a:p>
            <a:pPr indent="0" marL="0">
              <a:buNone/>
            </a:pPr>
            <a:r>
              <a:rPr lang="en-US" sz="3800" b="1" dirty="0">
                <a:solidFill>
                  <a:schemeClr val="tx1"/>
                </a:solidFill>
              </a:rPr>
              <a:t>5,1 milj.</a:t>
            </a:r>
            <a:pPr indent="0" marL="0">
              <a:buNone/>
            </a:pPr>
            <a:r>
              <a:rPr lang="en-US" sz="1700" dirty="0">
                <a:solidFill>
                  <a:schemeClr val="tx2"/>
                </a:solidFill>
              </a:rPr>
              <a:t>  matkariviä</a:t>
            </a:r>
            <a:endParaRPr lang="en-US" sz="3800" dirty="0"/>
          </a:p>
        </p:txBody>
      </p:sp>
      <p:sp>
        <p:nvSpPr>
          <p:cNvPr id="8" name="source text 1"/>
          <p:cNvSpPr txBox="1"/>
          <p:nvPr/>
        </p:nvSpPr>
        <p:spPr>
          <a:xfrm>
            <a:off x="822960" y="2395728"/>
            <a:ext cx="3017520" cy="685800"/>
          </a:xfrm>
          <a:prstGeom prst="rect">
            <a:avLst/>
          </a:prstGeom>
          <a:noFill/>
          <a:ln/>
        </p:spPr>
        <p:txBody>
          <a:bodyPr wrap="square" lIns="0" tIns="0" rIns="0" bIns="0" rtlCol="0" anchor="t"/>
          <a:lstStyle/>
          <a:p>
            <a:pPr indent="0" marL="0">
              <a:buNone/>
            </a:pPr>
            <a:r>
              <a:rPr lang="en-US" sz="1300" dirty="0">
                <a:solidFill>
                  <a:schemeClr val="accent6"/>
                </a:solidFill>
              </a:rPr>
              <a:t>HSL:n lähtö–paluu-data, huhti–lokakuu 2024 ja 2025</a:t>
            </a:r>
            <a:endParaRPr lang="en-US" sz="1300" dirty="0"/>
          </a:p>
        </p:txBody>
      </p:sp>
      <p:sp>
        <p:nvSpPr>
          <p:cNvPr id="9" name="source 2"/>
          <p:cNvSpPr/>
          <p:nvPr/>
        </p:nvSpPr>
        <p:spPr>
          <a:xfrm>
            <a:off x="4297680" y="1554480"/>
            <a:ext cx="3474720" cy="1691640"/>
          </a:xfrm>
          <a:prstGeom prst="roundRect">
            <a:avLst>
              <a:gd name="adj" fmla="val 4324"/>
            </a:avLst>
          </a:prstGeom>
          <a:solidFill>
            <a:schemeClr val="bg2"/>
          </a:solidFill>
          <a:ln w="12700">
            <a:solidFill>
              <a:schemeClr val="bg2"/>
            </a:solidFill>
            <a:prstDash val="solid"/>
          </a:ln>
        </p:spPr>
      </p:sp>
      <p:sp>
        <p:nvSpPr>
          <p:cNvPr id="10" name="source number 2"/>
          <p:cNvSpPr txBox="1"/>
          <p:nvPr/>
        </p:nvSpPr>
        <p:spPr>
          <a:xfrm>
            <a:off x="4572000" y="1691640"/>
            <a:ext cx="3017520" cy="685800"/>
          </a:xfrm>
          <a:prstGeom prst="rect">
            <a:avLst/>
          </a:prstGeom>
          <a:noFill/>
          <a:ln/>
        </p:spPr>
        <p:txBody>
          <a:bodyPr wrap="square" lIns="0" tIns="0" rIns="0" bIns="0" rtlCol="0" anchor="ctr"/>
          <a:lstStyle/>
          <a:p>
            <a:pPr indent="0" marL="0">
              <a:buNone/>
            </a:pPr>
            <a:r>
              <a:rPr lang="en-US" sz="3800" b="1" dirty="0">
                <a:solidFill>
                  <a:schemeClr val="tx1"/>
                </a:solidFill>
              </a:rPr>
              <a:t>459</a:t>
            </a:r>
            <a:pPr indent="0" marL="0">
              <a:buNone/>
            </a:pPr>
            <a:r>
              <a:rPr lang="en-US" sz="1700" dirty="0">
                <a:solidFill>
                  <a:schemeClr val="tx2"/>
                </a:solidFill>
              </a:rPr>
              <a:t>  asemaa</a:t>
            </a:r>
            <a:endParaRPr lang="en-US" sz="3800" dirty="0"/>
          </a:p>
        </p:txBody>
      </p:sp>
      <p:sp>
        <p:nvSpPr>
          <p:cNvPr id="11" name="source text 2"/>
          <p:cNvSpPr txBox="1"/>
          <p:nvPr/>
        </p:nvSpPr>
        <p:spPr>
          <a:xfrm>
            <a:off x="4572000" y="2395728"/>
            <a:ext cx="3017520" cy="685800"/>
          </a:xfrm>
          <a:prstGeom prst="rect">
            <a:avLst/>
          </a:prstGeom>
          <a:noFill/>
          <a:ln/>
        </p:spPr>
        <p:txBody>
          <a:bodyPr wrap="square" lIns="0" tIns="0" rIns="0" bIns="0" rtlCol="0" anchor="t"/>
          <a:lstStyle/>
          <a:p>
            <a:pPr indent="0" marL="0">
              <a:buNone/>
            </a:pPr>
            <a:r>
              <a:rPr lang="en-US" sz="1300" dirty="0">
                <a:solidFill>
                  <a:schemeClr val="accent6"/>
                </a:solidFill>
              </a:rPr>
              <a:t>HSL:n asemarekisteri, Helsinki Region Infoshare</a:t>
            </a:r>
            <a:endParaRPr lang="en-US" sz="1300" dirty="0"/>
          </a:p>
        </p:txBody>
      </p:sp>
      <p:sp>
        <p:nvSpPr>
          <p:cNvPr id="12" name="source 3"/>
          <p:cNvSpPr/>
          <p:nvPr/>
        </p:nvSpPr>
        <p:spPr>
          <a:xfrm>
            <a:off x="8046720" y="1554480"/>
            <a:ext cx="3474720" cy="1691640"/>
          </a:xfrm>
          <a:prstGeom prst="roundRect">
            <a:avLst>
              <a:gd name="adj" fmla="val 4324"/>
            </a:avLst>
          </a:prstGeom>
          <a:solidFill>
            <a:schemeClr val="bg2"/>
          </a:solidFill>
          <a:ln w="12700">
            <a:solidFill>
              <a:schemeClr val="bg2"/>
            </a:solidFill>
            <a:prstDash val="solid"/>
          </a:ln>
        </p:spPr>
      </p:sp>
      <p:sp>
        <p:nvSpPr>
          <p:cNvPr id="13" name="source number 3"/>
          <p:cNvSpPr txBox="1"/>
          <p:nvPr/>
        </p:nvSpPr>
        <p:spPr>
          <a:xfrm>
            <a:off x="8321040" y="1691640"/>
            <a:ext cx="3017520" cy="685800"/>
          </a:xfrm>
          <a:prstGeom prst="rect">
            <a:avLst/>
          </a:prstGeom>
          <a:noFill/>
          <a:ln/>
        </p:spPr>
        <p:txBody>
          <a:bodyPr wrap="square" lIns="0" tIns="0" rIns="0" bIns="0" rtlCol="0" anchor="ctr"/>
          <a:lstStyle/>
          <a:p>
            <a:pPr indent="0" marL="0">
              <a:buNone/>
            </a:pPr>
            <a:r>
              <a:rPr lang="en-US" sz="3800" b="1" dirty="0">
                <a:solidFill>
                  <a:schemeClr val="tx1"/>
                </a:solidFill>
              </a:rPr>
              <a:t>10 268</a:t>
            </a:r>
            <a:pPr indent="0" marL="0">
              <a:buNone/>
            </a:pPr>
            <a:r>
              <a:rPr lang="en-US" sz="1700" dirty="0">
                <a:solidFill>
                  <a:schemeClr val="tx2"/>
                </a:solidFill>
              </a:rPr>
              <a:t>  säätuntia</a:t>
            </a:r>
            <a:endParaRPr lang="en-US" sz="3800" dirty="0"/>
          </a:p>
        </p:txBody>
      </p:sp>
      <p:sp>
        <p:nvSpPr>
          <p:cNvPr id="14" name="source text 3"/>
          <p:cNvSpPr txBox="1"/>
          <p:nvPr/>
        </p:nvSpPr>
        <p:spPr>
          <a:xfrm>
            <a:off x="8321040" y="2395728"/>
            <a:ext cx="3017520" cy="685800"/>
          </a:xfrm>
          <a:prstGeom prst="rect">
            <a:avLst/>
          </a:prstGeom>
          <a:noFill/>
          <a:ln/>
        </p:spPr>
        <p:txBody>
          <a:bodyPr wrap="square" lIns="0" tIns="0" rIns="0" bIns="0" rtlCol="0" anchor="t"/>
          <a:lstStyle/>
          <a:p>
            <a:pPr indent="0" marL="0">
              <a:buNone/>
            </a:pPr>
            <a:r>
              <a:rPr lang="en-US" sz="1300" dirty="0">
                <a:solidFill>
                  <a:schemeClr val="accent6"/>
                </a:solidFill>
              </a:rPr>
              <a:t>Ilmatieteen laitos, Helsinki Kaisaniemi</a:t>
            </a:r>
            <a:endParaRPr lang="en-US" sz="1300" dirty="0"/>
          </a:p>
        </p:txBody>
      </p:sp>
      <p:graphicFrame>
        <p:nvGraphicFramePr>
          <p:cNvPr id="15" name="Chart 0" descr=""/>
          <p:cNvGraphicFramePr/>
          <p:nvPr/>
        </p:nvGraphicFramePr>
        <p:xfrm>
          <a:off x="548640" y="3566160"/>
          <a:ext cx="7315200" cy="2697480"/>
        </p:xfrm>
        <a:graphic xmlns:a="http://schemas.openxmlformats.org/drawingml/2006/main">
          <a:graphicData uri="http://schemas.openxmlformats.org/drawingml/2006/chart">
            <c:chart xmlns:c="http://schemas.openxmlformats.org/drawingml/2006/chart" r:id="rId1"/>
          </a:graphicData>
        </a:graphic>
      </p:graphicFrame>
      <p:sp>
        <p:nvSpPr>
          <p:cNvPr id="16" name="kept callout"/>
          <p:cNvSpPr/>
          <p:nvPr/>
        </p:nvSpPr>
        <p:spPr>
          <a:xfrm>
            <a:off x="8321040" y="3611880"/>
            <a:ext cx="3291840" cy="2606040"/>
          </a:xfrm>
          <a:prstGeom prst="roundRect">
            <a:avLst>
              <a:gd name="adj" fmla="val 2807"/>
            </a:avLst>
          </a:prstGeom>
          <a:solidFill>
            <a:schemeClr val="tx2"/>
          </a:solidFill>
          <a:ln w="12700">
            <a:solidFill>
              <a:schemeClr val="tx2"/>
            </a:solidFill>
            <a:prstDash val="solid"/>
          </a:ln>
        </p:spPr>
      </p:sp>
      <p:sp>
        <p:nvSpPr>
          <p:cNvPr id="17" name="kept text"/>
          <p:cNvSpPr txBox="1"/>
          <p:nvPr/>
        </p:nvSpPr>
        <p:spPr>
          <a:xfrm>
            <a:off x="8595360" y="3840480"/>
            <a:ext cx="2743200" cy="2148840"/>
          </a:xfrm>
          <a:prstGeom prst="rect">
            <a:avLst/>
          </a:prstGeom>
          <a:noFill/>
          <a:ln/>
        </p:spPr>
        <p:txBody>
          <a:bodyPr wrap="square" lIns="0" tIns="0" rIns="0" bIns="0" rtlCol="0" anchor="ctr"/>
          <a:lstStyle/>
          <a:p>
            <a:pPr indent="0" marL="0">
              <a:buNone/>
            </a:pPr>
            <a:r>
              <a:rPr lang="en-US" sz="4400" b="1" dirty="0">
                <a:solidFill>
                  <a:schemeClr val="accent1"/>
                </a:solidFill>
              </a:rPr>
              <a:t>96,4 %</a:t>
            </a:r>
            <a:endParaRPr lang="en-US" sz="4400" dirty="0"/>
          </a:p>
          <a:p>
            <a:pPr indent="0" marL="0">
              <a:buNone/>
            </a:pPr>
            <a:r>
              <a:rPr lang="en-US" sz="1500" dirty="0">
                <a:solidFill>
                  <a:schemeClr val="bg1"/>
                </a:solidFill>
              </a:rPr>
              <a:t>matkariveistä säilyi: 4 917 903 matkaa</a:t>
            </a:r>
            <a:endParaRPr lang="en-US" sz="4400" dirty="0"/>
          </a:p>
        </p:txBody>
      </p:sp>
      <p:sp>
        <p:nvSpPr>
          <p:cNvPr id="25" name="Slide Number Placeholder 0"/>
          <p:cNvSpPr>
            <a:spLocks noGrp="1"/>
          </p:cNvSpPr>
          <p:nvPr>
            <p:ph type="sldNum" sz="quarter" idx="4294967295"/>
          </p:nvPr>
        </p:nvSpPr>
        <p:spPr>
          <a:xfrm>
            <a:off x="11292840" y="6419088"/>
            <a:ext cx="36576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lIns="0" tIns="0" rIns="0" bIns="0" rtlCol="0"/>
          <a:lstStyle/>
          <a:p>
            <a:pPr indent="0" marL="0">
              <a:buNone/>
            </a:pPr>
            <a:r>
              <a:rPr lang="en-US" sz="1200" b="1" spc="100" kern="0" dirty="0">
                <a:solidFill>
                  <a:schemeClr val="accent2"/>
                </a:solidFill>
              </a:rPr>
              <a:t>2 · DATAN YMMÄRTÄMINEN</a:t>
            </a:r>
            <a:endParaRPr lang="en-US" sz="1200" dirty="0"/>
          </a:p>
        </p:txBody>
      </p:sp>
      <p:sp>
        <p:nvSpPr>
          <p:cNvPr id="3" name="Text 0"/>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000" b="1" dirty="0">
                <a:solidFill>
                  <a:schemeClr val="tx1"/>
                </a:solidFill>
              </a:rPr>
              <a:t>Kysyntä seuraa kelloa, vuodenaikaa ja sadetta</a:t>
            </a:r>
            <a:endParaRPr lang="en-US" sz="3000" dirty="0"/>
          </a:p>
        </p:txBody>
      </p:sp>
      <p:sp>
        <p:nvSpPr>
          <p:cNvPr id="4" name="speaker dot"/>
          <p:cNvSpPr/>
          <p:nvPr/>
        </p:nvSpPr>
        <p:spPr>
          <a:xfrm>
            <a:off x="8796528" y="6437376"/>
            <a:ext cx="155448" cy="155448"/>
          </a:xfrm>
          <a:prstGeom prst="ellipse">
            <a:avLst/>
          </a:prstGeom>
          <a:solidFill>
            <a:schemeClr val="accent1"/>
          </a:solidFill>
          <a:ln w="12700">
            <a:solidFill>
              <a:schemeClr val="accent1"/>
            </a:solidFill>
            <a:prstDash val="solid"/>
          </a:ln>
        </p:spPr>
      </p:sp>
      <p:sp>
        <p:nvSpPr>
          <p:cNvPr id="5" name="Text 1"/>
          <p:cNvSpPr/>
          <p:nvPr>
            <p:ph idx="103" type="body" hasCustomPrompt="1"/>
          </p:nvPr>
        </p:nvSpPr>
        <p:spPr>
          <a:xfrm>
            <a:off x="9034272" y="6419088"/>
            <a:ext cx="2194560" cy="256032"/>
          </a:xfrm>
          <a:prstGeom prst="rect">
            <a:avLst/>
          </a:prstGeom>
          <a:noFill/>
          <a:ln/>
        </p:spPr>
        <p:txBody>
          <a:bodyPr wrap="square" lIns="0" tIns="0" rIns="0" bIns="0" rtlCol="0"/>
          <a:lstStyle/>
          <a:p>
            <a:pPr indent="0" marL="0">
              <a:buNone/>
            </a:pPr>
            <a:r>
              <a:rPr lang="en-US" sz="1000" b="1" dirty="0">
                <a:solidFill>
                  <a:schemeClr val="tx2"/>
                </a:solidFill>
              </a:rPr>
              <a:t>Esittäjä: Elias N</a:t>
            </a:r>
            <a:endParaRPr lang="en-US" sz="1000" dirty="0"/>
          </a:p>
        </p:txBody>
      </p:sp>
      <p:pic>
        <p:nvPicPr>
          <p:cNvPr id="6" name="daily.png" descr="Päivittäiset matkat 2024 ja 2025, lämpötila ja sadepäivät">    </p:cNvPr>
          <p:cNvPicPr>
            <a:picLocks noChangeAspect="1"/>
          </p:cNvPicPr>
          <p:nvPr/>
        </p:nvPicPr>
        <p:blipFill>
          <a:blip r:embed="rId1"/>
          <a:stretch>
            <a:fillRect/>
          </a:stretch>
        </p:blipFill>
        <p:spPr>
          <a:xfrm>
            <a:off x="548640" y="1463040"/>
            <a:ext cx="7223760" cy="4535560"/>
          </a:xfrm>
          <a:prstGeom prst="rect">
            <a:avLst/>
          </a:prstGeom>
        </p:spPr>
      </p:pic>
      <p:sp>
        <p:nvSpPr>
          <p:cNvPr id="7" name="dot 1"/>
          <p:cNvSpPr/>
          <p:nvPr/>
        </p:nvSpPr>
        <p:spPr>
          <a:xfrm>
            <a:off x="8183880" y="1691640"/>
            <a:ext cx="384048" cy="384048"/>
          </a:xfrm>
          <a:prstGeom prst="ellipse">
            <a:avLst/>
          </a:prstGeom>
          <a:solidFill>
            <a:schemeClr val="accent1"/>
          </a:solidFill>
          <a:ln w="12700">
            <a:solidFill>
              <a:schemeClr val="accent1"/>
            </a:solidFill>
            <a:prstDash val="solid"/>
          </a:ln>
        </p:spPr>
      </p:sp>
      <p:sp>
        <p:nvSpPr>
          <p:cNvPr id="8" name="dot label 1"/>
          <p:cNvSpPr txBox="1"/>
          <p:nvPr/>
        </p:nvSpPr>
        <p:spPr>
          <a:xfrm>
            <a:off x="8183880" y="1691640"/>
            <a:ext cx="384048" cy="384048"/>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9" name="pattern 1"/>
          <p:cNvSpPr txBox="1"/>
          <p:nvPr/>
        </p:nvSpPr>
        <p:spPr>
          <a:xfrm>
            <a:off x="8732520" y="1645920"/>
            <a:ext cx="2926080" cy="1325880"/>
          </a:xfrm>
          <a:prstGeom prst="rect">
            <a:avLst/>
          </a:prstGeom>
          <a:noFill/>
          <a:ln/>
        </p:spPr>
        <p:txBody>
          <a:bodyPr wrap="square" lIns="0" tIns="0" rIns="0" bIns="0" rtlCol="0" anchor="t"/>
          <a:lstStyle/>
          <a:p>
            <a:pPr indent="0" marL="0">
              <a:spcAft>
                <a:spcPts val="400"/>
              </a:spcAft>
              <a:buNone/>
            </a:pPr>
            <a:r>
              <a:rPr lang="en-US" sz="1800" b="1" dirty="0">
                <a:solidFill>
                  <a:schemeClr val="tx1"/>
                </a:solidFill>
              </a:rPr>
              <a:t>Kaksi arkihuippua</a:t>
            </a:r>
            <a:endParaRPr lang="en-US" sz="1800" dirty="0"/>
          </a:p>
          <a:p>
            <a:pPr indent="0" marL="0">
              <a:spcAft>
                <a:spcPts val="400"/>
              </a:spcAft>
              <a:buNone/>
            </a:pPr>
            <a:r>
              <a:rPr lang="en-US" sz="1500" dirty="0">
                <a:solidFill>
                  <a:schemeClr val="tx2"/>
                </a:solidFill>
              </a:rPr>
              <a:t>Klo 8 ja 16–17. Viikonloppuna yksi leveä iltapäivähuippu.</a:t>
            </a:r>
            <a:endParaRPr lang="en-US" sz="1800" dirty="0"/>
          </a:p>
        </p:txBody>
      </p:sp>
      <p:sp>
        <p:nvSpPr>
          <p:cNvPr id="10" name="dot 2"/>
          <p:cNvSpPr/>
          <p:nvPr/>
        </p:nvSpPr>
        <p:spPr>
          <a:xfrm>
            <a:off x="8183880" y="3154680"/>
            <a:ext cx="384048" cy="384048"/>
          </a:xfrm>
          <a:prstGeom prst="ellipse">
            <a:avLst/>
          </a:prstGeom>
          <a:solidFill>
            <a:schemeClr val="accent1"/>
          </a:solidFill>
          <a:ln w="12700">
            <a:solidFill>
              <a:schemeClr val="accent1"/>
            </a:solidFill>
            <a:prstDash val="solid"/>
          </a:ln>
        </p:spPr>
      </p:sp>
      <p:sp>
        <p:nvSpPr>
          <p:cNvPr id="11" name="dot label 2"/>
          <p:cNvSpPr txBox="1"/>
          <p:nvPr/>
        </p:nvSpPr>
        <p:spPr>
          <a:xfrm>
            <a:off x="8183880" y="3154680"/>
            <a:ext cx="384048" cy="384048"/>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12" name="pattern 2"/>
          <p:cNvSpPr txBox="1"/>
          <p:nvPr/>
        </p:nvSpPr>
        <p:spPr>
          <a:xfrm>
            <a:off x="8732520" y="3108960"/>
            <a:ext cx="2926080" cy="1325880"/>
          </a:xfrm>
          <a:prstGeom prst="rect">
            <a:avLst/>
          </a:prstGeom>
          <a:noFill/>
          <a:ln/>
        </p:spPr>
        <p:txBody>
          <a:bodyPr wrap="square" lIns="0" tIns="0" rIns="0" bIns="0" rtlCol="0" anchor="t"/>
          <a:lstStyle/>
          <a:p>
            <a:pPr indent="0" marL="0">
              <a:spcAft>
                <a:spcPts val="400"/>
              </a:spcAft>
              <a:buNone/>
            </a:pPr>
            <a:r>
              <a:rPr lang="en-US" sz="1800" b="1" dirty="0">
                <a:solidFill>
                  <a:schemeClr val="tx1"/>
                </a:solidFill>
              </a:rPr>
              <a:t>Kesäkausi</a:t>
            </a:r>
            <a:endParaRPr lang="en-US" sz="1800" dirty="0"/>
          </a:p>
          <a:p>
            <a:pPr indent="0" marL="0">
              <a:spcAft>
                <a:spcPts val="400"/>
              </a:spcAft>
              <a:buNone/>
            </a:pPr>
            <a:r>
              <a:rPr lang="en-US" sz="1500" dirty="0">
                <a:solidFill>
                  <a:schemeClr val="tx2"/>
                </a:solidFill>
              </a:rPr>
              <a:t>Käyttö on huipussaan kesä–elokuussa. Heinäkuussa notkahdus, kun työmatkalaiset lomailevat.</a:t>
            </a:r>
            <a:endParaRPr lang="en-US" sz="1800" dirty="0"/>
          </a:p>
        </p:txBody>
      </p:sp>
      <p:sp>
        <p:nvSpPr>
          <p:cNvPr id="13" name="dot 3"/>
          <p:cNvSpPr/>
          <p:nvPr/>
        </p:nvSpPr>
        <p:spPr>
          <a:xfrm>
            <a:off x="8183880" y="4617720"/>
            <a:ext cx="384048" cy="384048"/>
          </a:xfrm>
          <a:prstGeom prst="ellipse">
            <a:avLst/>
          </a:prstGeom>
          <a:solidFill>
            <a:schemeClr val="accent1"/>
          </a:solidFill>
          <a:ln w="12700">
            <a:solidFill>
              <a:schemeClr val="accent1"/>
            </a:solidFill>
            <a:prstDash val="solid"/>
          </a:ln>
        </p:spPr>
      </p:sp>
      <p:sp>
        <p:nvSpPr>
          <p:cNvPr id="14" name="dot label 3"/>
          <p:cNvSpPr txBox="1"/>
          <p:nvPr/>
        </p:nvSpPr>
        <p:spPr>
          <a:xfrm>
            <a:off x="8183880" y="4617720"/>
            <a:ext cx="384048" cy="384048"/>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5" name="pattern 3"/>
          <p:cNvSpPr txBox="1"/>
          <p:nvPr/>
        </p:nvSpPr>
        <p:spPr>
          <a:xfrm>
            <a:off x="8732520" y="4572000"/>
            <a:ext cx="2926080" cy="1325880"/>
          </a:xfrm>
          <a:prstGeom prst="rect">
            <a:avLst/>
          </a:prstGeom>
          <a:noFill/>
          <a:ln/>
        </p:spPr>
        <p:txBody>
          <a:bodyPr wrap="square" lIns="0" tIns="0" rIns="0" bIns="0" rtlCol="0" anchor="t"/>
          <a:lstStyle/>
          <a:p>
            <a:pPr indent="0" marL="0">
              <a:spcAft>
                <a:spcPts val="400"/>
              </a:spcAft>
              <a:buNone/>
            </a:pPr>
            <a:r>
              <a:rPr lang="en-US" sz="1800" b="1" dirty="0">
                <a:solidFill>
                  <a:schemeClr val="tx1"/>
                </a:solidFill>
              </a:rPr>
              <a:t>Äkilliset pudotukset sadepäivinä</a:t>
            </a:r>
            <a:endParaRPr lang="en-US" sz="1800" dirty="0"/>
          </a:p>
          <a:p>
            <a:pPr indent="0" marL="0">
              <a:spcAft>
                <a:spcPts val="400"/>
              </a:spcAft>
              <a:buNone/>
            </a:pPr>
            <a:r>
              <a:rPr lang="en-US" sz="1500" dirty="0">
                <a:solidFill>
                  <a:schemeClr val="tx2"/>
                </a:solidFill>
              </a:rPr>
              <a:t>Jyrkimmät yksittäiset pudotukset osuvat rankkasadepäiville (keltaiset merkit).</a:t>
            </a:r>
            <a:endParaRPr lang="en-US" sz="1800" dirty="0"/>
          </a:p>
        </p:txBody>
      </p:sp>
      <p:sp>
        <p:nvSpPr>
          <p:cNvPr id="25" name="Slide Number Placeholder 0"/>
          <p:cNvSpPr>
            <a:spLocks noGrp="1"/>
          </p:cNvSpPr>
          <p:nvPr>
            <p:ph type="sldNum" sz="quarter" idx="4294967295"/>
          </p:nvPr>
        </p:nvSpPr>
        <p:spPr>
          <a:xfrm>
            <a:off x="11292840" y="6419088"/>
            <a:ext cx="36576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lIns="0" tIns="0" rIns="0" bIns="0" rtlCol="0"/>
          <a:lstStyle/>
          <a:p>
            <a:pPr indent="0" marL="0">
              <a:buNone/>
            </a:pPr>
            <a:r>
              <a:rPr lang="en-US" sz="1200" b="1" spc="100" kern="0" dirty="0">
                <a:solidFill>
                  <a:schemeClr val="accent2"/>
                </a:solidFill>
              </a:rPr>
              <a:t>3 · DATAN ESIKÄSITTELY</a:t>
            </a:r>
            <a:endParaRPr lang="en-US" sz="1200" dirty="0"/>
          </a:p>
        </p:txBody>
      </p:sp>
      <p:sp>
        <p:nvSpPr>
          <p:cNvPr id="3" name="Text 0"/>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000" b="1" dirty="0">
                <a:solidFill>
                  <a:schemeClr val="tx1"/>
                </a:solidFill>
              </a:rPr>
              <a:t>Kolme esikäsittelyn ratkaisua vaikutti tuloksiin</a:t>
            </a:r>
            <a:endParaRPr lang="en-US" sz="3000" dirty="0"/>
          </a:p>
        </p:txBody>
      </p:sp>
      <p:sp>
        <p:nvSpPr>
          <p:cNvPr id="4" name="speaker dot"/>
          <p:cNvSpPr/>
          <p:nvPr/>
        </p:nvSpPr>
        <p:spPr>
          <a:xfrm>
            <a:off x="8796528" y="6437376"/>
            <a:ext cx="155448" cy="155448"/>
          </a:xfrm>
          <a:prstGeom prst="ellipse">
            <a:avLst/>
          </a:prstGeom>
          <a:solidFill>
            <a:schemeClr val="accent1"/>
          </a:solidFill>
          <a:ln w="12700">
            <a:solidFill>
              <a:schemeClr val="accent1"/>
            </a:solidFill>
            <a:prstDash val="solid"/>
          </a:ln>
        </p:spPr>
      </p:sp>
      <p:sp>
        <p:nvSpPr>
          <p:cNvPr id="5" name="Text 1"/>
          <p:cNvSpPr/>
          <p:nvPr>
            <p:ph idx="103" type="body" hasCustomPrompt="1"/>
          </p:nvPr>
        </p:nvSpPr>
        <p:spPr>
          <a:xfrm>
            <a:off x="9034272" y="6419088"/>
            <a:ext cx="2194560" cy="256032"/>
          </a:xfrm>
          <a:prstGeom prst="rect">
            <a:avLst/>
          </a:prstGeom>
          <a:noFill/>
          <a:ln/>
        </p:spPr>
        <p:txBody>
          <a:bodyPr wrap="square" lIns="0" tIns="0" rIns="0" bIns="0" rtlCol="0"/>
          <a:lstStyle/>
          <a:p>
            <a:pPr indent="0" marL="0">
              <a:buNone/>
            </a:pPr>
            <a:r>
              <a:rPr lang="en-US" sz="1000" b="1" dirty="0">
                <a:solidFill>
                  <a:schemeClr val="tx2"/>
                </a:solidFill>
              </a:rPr>
              <a:t>Esittäjä: Elias N</a:t>
            </a:r>
            <a:endParaRPr lang="en-US" sz="1000" dirty="0"/>
          </a:p>
        </p:txBody>
      </p:sp>
      <p:sp>
        <p:nvSpPr>
          <p:cNvPr id="6" name="step 1"/>
          <p:cNvSpPr/>
          <p:nvPr/>
        </p:nvSpPr>
        <p:spPr>
          <a:xfrm>
            <a:off x="548640" y="1600200"/>
            <a:ext cx="2148840" cy="960120"/>
          </a:xfrm>
          <a:prstGeom prst="chevron">
            <a:avLst/>
          </a:prstGeom>
          <a:solidFill>
            <a:schemeClr val="bg2"/>
          </a:solidFill>
          <a:ln w="12700">
            <a:solidFill>
              <a:schemeClr val="bg2"/>
            </a:solidFill>
            <a:prstDash val="solid"/>
          </a:ln>
        </p:spPr>
      </p:sp>
      <p:sp>
        <p:nvSpPr>
          <p:cNvPr id="7" name="step text 1"/>
          <p:cNvSpPr txBox="1"/>
          <p:nvPr/>
        </p:nvSpPr>
        <p:spPr>
          <a:xfrm>
            <a:off x="960120" y="1600200"/>
            <a:ext cx="1463040" cy="960120"/>
          </a:xfrm>
          <a:prstGeom prst="rect">
            <a:avLst/>
          </a:prstGeom>
          <a:noFill/>
          <a:ln/>
        </p:spPr>
        <p:txBody>
          <a:bodyPr wrap="square" lIns="0" tIns="0" rIns="0" bIns="0" rtlCol="0" anchor="ctr"/>
          <a:lstStyle/>
          <a:p>
            <a:pPr algn="ctr" indent="0" marL="0">
              <a:buNone/>
            </a:pPr>
            <a:r>
              <a:rPr lang="en-US" sz="1500" b="1" dirty="0">
                <a:solidFill>
                  <a:schemeClr val="tx1"/>
                </a:solidFill>
              </a:rPr>
              <a:t>Raakamatkat</a:t>
            </a:r>
            <a:endParaRPr lang="en-US" sz="1500" dirty="0"/>
          </a:p>
          <a:p>
            <a:pPr algn="ctr" indent="0" marL="0">
              <a:buNone/>
            </a:pPr>
            <a:r>
              <a:rPr lang="en-US" sz="1200" dirty="0">
                <a:solidFill>
                  <a:schemeClr val="tx2"/>
                </a:solidFill>
              </a:rPr>
              <a:t>5,1 milj. riviä</a:t>
            </a:r>
            <a:endParaRPr lang="en-US" sz="1500" dirty="0"/>
          </a:p>
        </p:txBody>
      </p:sp>
      <p:sp>
        <p:nvSpPr>
          <p:cNvPr id="8" name="step 2"/>
          <p:cNvSpPr/>
          <p:nvPr/>
        </p:nvSpPr>
        <p:spPr>
          <a:xfrm>
            <a:off x="2816352" y="1600200"/>
            <a:ext cx="2148840" cy="960120"/>
          </a:xfrm>
          <a:prstGeom prst="chevron">
            <a:avLst/>
          </a:prstGeom>
          <a:solidFill>
            <a:schemeClr val="bg2"/>
          </a:solidFill>
          <a:ln w="12700">
            <a:solidFill>
              <a:schemeClr val="bg2"/>
            </a:solidFill>
            <a:prstDash val="solid"/>
          </a:ln>
        </p:spPr>
      </p:sp>
      <p:sp>
        <p:nvSpPr>
          <p:cNvPr id="9" name="step text 2"/>
          <p:cNvSpPr txBox="1"/>
          <p:nvPr/>
        </p:nvSpPr>
        <p:spPr>
          <a:xfrm>
            <a:off x="3227832" y="1600200"/>
            <a:ext cx="1463040" cy="960120"/>
          </a:xfrm>
          <a:prstGeom prst="rect">
            <a:avLst/>
          </a:prstGeom>
          <a:noFill/>
          <a:ln/>
        </p:spPr>
        <p:txBody>
          <a:bodyPr wrap="square" lIns="0" tIns="0" rIns="0" bIns="0" rtlCol="0" anchor="ctr"/>
          <a:lstStyle/>
          <a:p>
            <a:pPr algn="ctr" indent="0" marL="0">
              <a:buNone/>
            </a:pPr>
            <a:r>
              <a:rPr lang="en-US" sz="1500" b="1" dirty="0">
                <a:solidFill>
                  <a:schemeClr val="tx1"/>
                </a:solidFill>
              </a:rPr>
              <a:t>Siivous</a:t>
            </a:r>
            <a:endParaRPr lang="en-US" sz="1500" dirty="0"/>
          </a:p>
          <a:p>
            <a:pPr algn="ctr" indent="0" marL="0">
              <a:buNone/>
            </a:pPr>
            <a:r>
              <a:rPr lang="en-US" sz="1200" dirty="0">
                <a:solidFill>
                  <a:schemeClr val="tx2"/>
                </a:solidFill>
              </a:rPr>
              <a:t>8 sääntöä</a:t>
            </a:r>
            <a:endParaRPr lang="en-US" sz="1500" dirty="0"/>
          </a:p>
        </p:txBody>
      </p:sp>
      <p:sp>
        <p:nvSpPr>
          <p:cNvPr id="10" name="step 3"/>
          <p:cNvSpPr/>
          <p:nvPr/>
        </p:nvSpPr>
        <p:spPr>
          <a:xfrm>
            <a:off x="5084064" y="1600200"/>
            <a:ext cx="2148840" cy="960120"/>
          </a:xfrm>
          <a:prstGeom prst="chevron">
            <a:avLst/>
          </a:prstGeom>
          <a:solidFill>
            <a:schemeClr val="bg2"/>
          </a:solidFill>
          <a:ln w="12700">
            <a:solidFill>
              <a:schemeClr val="bg2"/>
            </a:solidFill>
            <a:prstDash val="solid"/>
          </a:ln>
        </p:spPr>
      </p:sp>
      <p:sp>
        <p:nvSpPr>
          <p:cNvPr id="11" name="step text 3"/>
          <p:cNvSpPr txBox="1"/>
          <p:nvPr/>
        </p:nvSpPr>
        <p:spPr>
          <a:xfrm>
            <a:off x="5495544" y="1600200"/>
            <a:ext cx="1463040" cy="960120"/>
          </a:xfrm>
          <a:prstGeom prst="rect">
            <a:avLst/>
          </a:prstGeom>
          <a:noFill/>
          <a:ln/>
        </p:spPr>
        <p:txBody>
          <a:bodyPr wrap="square" lIns="0" tIns="0" rIns="0" bIns="0" rtlCol="0" anchor="ctr"/>
          <a:lstStyle/>
          <a:p>
            <a:pPr algn="ctr" indent="0" marL="0">
              <a:buNone/>
            </a:pPr>
            <a:r>
              <a:rPr lang="en-US" sz="1500" b="1" dirty="0">
                <a:solidFill>
                  <a:schemeClr val="tx1"/>
                </a:solidFill>
              </a:rPr>
              <a:t>Koostaminen</a:t>
            </a:r>
            <a:endParaRPr lang="en-US" sz="1500" dirty="0"/>
          </a:p>
          <a:p>
            <a:pPr algn="ctr" indent="0" marL="0">
              <a:buNone/>
            </a:pPr>
            <a:r>
              <a:rPr lang="en-US" sz="1200" dirty="0">
                <a:solidFill>
                  <a:schemeClr val="tx2"/>
                </a:solidFill>
              </a:rPr>
              <a:t>asema × tunti</a:t>
            </a:r>
            <a:endParaRPr lang="en-US" sz="1500" dirty="0"/>
          </a:p>
          <a:p>
            <a:pPr algn="ctr" indent="0" marL="0">
              <a:buNone/>
            </a:pPr>
            <a:r>
              <a:rPr lang="en-US" sz="1200" dirty="0">
                <a:solidFill>
                  <a:schemeClr val="tx2"/>
                </a:solidFill>
              </a:rPr>
              <a:t>järjestelmä × tunti</a:t>
            </a:r>
            <a:endParaRPr lang="en-US" sz="1500" dirty="0"/>
          </a:p>
        </p:txBody>
      </p:sp>
      <p:sp>
        <p:nvSpPr>
          <p:cNvPr id="12" name="step 4"/>
          <p:cNvSpPr/>
          <p:nvPr/>
        </p:nvSpPr>
        <p:spPr>
          <a:xfrm>
            <a:off x="7351776" y="1600200"/>
            <a:ext cx="2148840" cy="960120"/>
          </a:xfrm>
          <a:prstGeom prst="chevron">
            <a:avLst/>
          </a:prstGeom>
          <a:solidFill>
            <a:schemeClr val="bg2"/>
          </a:solidFill>
          <a:ln w="12700">
            <a:solidFill>
              <a:schemeClr val="bg2"/>
            </a:solidFill>
            <a:prstDash val="solid"/>
          </a:ln>
        </p:spPr>
      </p:sp>
      <p:sp>
        <p:nvSpPr>
          <p:cNvPr id="13" name="step text 4"/>
          <p:cNvSpPr txBox="1"/>
          <p:nvPr/>
        </p:nvSpPr>
        <p:spPr>
          <a:xfrm>
            <a:off x="7763256" y="1600200"/>
            <a:ext cx="1463040" cy="960120"/>
          </a:xfrm>
          <a:prstGeom prst="rect">
            <a:avLst/>
          </a:prstGeom>
          <a:noFill/>
          <a:ln/>
        </p:spPr>
        <p:txBody>
          <a:bodyPr wrap="square" lIns="0" tIns="0" rIns="0" bIns="0" rtlCol="0" anchor="ctr"/>
          <a:lstStyle/>
          <a:p>
            <a:pPr algn="ctr" indent="0" marL="0">
              <a:buNone/>
            </a:pPr>
            <a:r>
              <a:rPr lang="en-US" sz="1500" b="1" dirty="0">
                <a:solidFill>
                  <a:schemeClr val="tx1"/>
                </a:solidFill>
              </a:rPr>
              <a:t>Sääliitos</a:t>
            </a:r>
            <a:endParaRPr lang="en-US" sz="1500" dirty="0"/>
          </a:p>
          <a:p>
            <a:pPr algn="ctr" indent="0" marL="0">
              <a:buNone/>
            </a:pPr>
            <a:r>
              <a:rPr lang="en-US" sz="1200" dirty="0">
                <a:solidFill>
                  <a:schemeClr val="tx2"/>
                </a:solidFill>
              </a:rPr>
              <a:t>paikallinen aika → UTC</a:t>
            </a:r>
            <a:endParaRPr lang="en-US" sz="1500" dirty="0"/>
          </a:p>
        </p:txBody>
      </p:sp>
      <p:sp>
        <p:nvSpPr>
          <p:cNvPr id="14" name="step 5"/>
          <p:cNvSpPr/>
          <p:nvPr/>
        </p:nvSpPr>
        <p:spPr>
          <a:xfrm>
            <a:off x="9619488" y="1600200"/>
            <a:ext cx="2148840" cy="960120"/>
          </a:xfrm>
          <a:prstGeom prst="chevron">
            <a:avLst/>
          </a:prstGeom>
          <a:solidFill>
            <a:schemeClr val="accent1"/>
          </a:solidFill>
          <a:ln w="12700">
            <a:solidFill>
              <a:schemeClr val="accent1"/>
            </a:solidFill>
            <a:prstDash val="solid"/>
          </a:ln>
        </p:spPr>
      </p:sp>
      <p:sp>
        <p:nvSpPr>
          <p:cNvPr id="15" name="step text 5"/>
          <p:cNvSpPr txBox="1"/>
          <p:nvPr/>
        </p:nvSpPr>
        <p:spPr>
          <a:xfrm>
            <a:off x="10030968" y="1600200"/>
            <a:ext cx="1463040" cy="960120"/>
          </a:xfrm>
          <a:prstGeom prst="rect">
            <a:avLst/>
          </a:prstGeom>
          <a:noFill/>
          <a:ln/>
        </p:spPr>
        <p:txBody>
          <a:bodyPr wrap="square" lIns="0" tIns="0" rIns="0" bIns="0" rtlCol="0" anchor="ctr"/>
          <a:lstStyle/>
          <a:p>
            <a:pPr algn="ctr" indent="0" marL="0">
              <a:buNone/>
            </a:pPr>
            <a:r>
              <a:rPr lang="en-US" sz="1500" b="1" dirty="0">
                <a:solidFill>
                  <a:schemeClr val="tx1"/>
                </a:solidFill>
              </a:rPr>
              <a:t>Piirteet</a:t>
            </a:r>
            <a:endParaRPr lang="en-US" sz="1500" dirty="0"/>
          </a:p>
          <a:p>
            <a:pPr algn="ctr" indent="0" marL="0">
              <a:buNone/>
            </a:pPr>
            <a:r>
              <a:rPr lang="en-US" sz="1200" dirty="0">
                <a:solidFill>
                  <a:schemeClr val="tx2"/>
                </a:solidFill>
              </a:rPr>
              <a:t>kalenteri, sade,</a:t>
            </a:r>
            <a:endParaRPr lang="en-US" sz="1500" dirty="0"/>
          </a:p>
          <a:p>
            <a:pPr algn="ctr" indent="0" marL="0">
              <a:buNone/>
            </a:pPr>
            <a:r>
              <a:rPr lang="en-US" sz="1200" dirty="0">
                <a:solidFill>
                  <a:schemeClr val="tx2"/>
                </a:solidFill>
              </a:rPr>
              <a:t>asemien osuudet</a:t>
            </a:r>
            <a:endParaRPr lang="en-US" sz="1500" dirty="0"/>
          </a:p>
        </p:txBody>
      </p:sp>
      <p:sp>
        <p:nvSpPr>
          <p:cNvPr id="16" name="decision 1"/>
          <p:cNvSpPr/>
          <p:nvPr/>
        </p:nvSpPr>
        <p:spPr>
          <a:xfrm>
            <a:off x="548640" y="2971800"/>
            <a:ext cx="3474720" cy="3017520"/>
          </a:xfrm>
          <a:prstGeom prst="roundRect">
            <a:avLst>
              <a:gd name="adj" fmla="val 2424"/>
            </a:avLst>
          </a:prstGeom>
          <a:solidFill>
            <a:schemeClr val="bg2"/>
          </a:solidFill>
          <a:ln w="12700">
            <a:solidFill>
              <a:schemeClr val="bg2"/>
            </a:solidFill>
            <a:prstDash val="solid"/>
          </a:ln>
        </p:spPr>
      </p:sp>
      <p:sp>
        <p:nvSpPr>
          <p:cNvPr id="17" name="dot 1"/>
          <p:cNvSpPr/>
          <p:nvPr/>
        </p:nvSpPr>
        <p:spPr>
          <a:xfrm>
            <a:off x="822960" y="3200400"/>
            <a:ext cx="384048" cy="384048"/>
          </a:xfrm>
          <a:prstGeom prst="ellipse">
            <a:avLst/>
          </a:prstGeom>
          <a:solidFill>
            <a:schemeClr val="accent1"/>
          </a:solidFill>
          <a:ln w="12700">
            <a:solidFill>
              <a:schemeClr val="accent1"/>
            </a:solidFill>
            <a:prstDash val="solid"/>
          </a:ln>
        </p:spPr>
      </p:sp>
      <p:sp>
        <p:nvSpPr>
          <p:cNvPr id="18" name="dot label 1"/>
          <p:cNvSpPr txBox="1"/>
          <p:nvPr/>
        </p:nvSpPr>
        <p:spPr>
          <a:xfrm>
            <a:off x="822960" y="3200400"/>
            <a:ext cx="384048" cy="384048"/>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19" name="decision text 1"/>
          <p:cNvSpPr txBox="1"/>
          <p:nvPr/>
        </p:nvSpPr>
        <p:spPr>
          <a:xfrm>
            <a:off x="822960" y="3749040"/>
            <a:ext cx="2926080" cy="2148840"/>
          </a:xfrm>
          <a:prstGeom prst="rect">
            <a:avLst/>
          </a:prstGeom>
          <a:noFill/>
          <a:ln/>
        </p:spPr>
        <p:txBody>
          <a:bodyPr wrap="square" lIns="0" tIns="0" rIns="0" bIns="0" rtlCol="0" anchor="t"/>
          <a:lstStyle/>
          <a:p>
            <a:pPr indent="0" marL="0">
              <a:spcAft>
                <a:spcPts val="800"/>
              </a:spcAft>
              <a:buNone/>
            </a:pPr>
            <a:r>
              <a:rPr lang="en-US" sz="1800" b="1" dirty="0">
                <a:solidFill>
                  <a:schemeClr val="tx1"/>
                </a:solidFill>
              </a:rPr>
              <a:t>Alle minuutin vuokraus ei ole matka</a:t>
            </a:r>
            <a:endParaRPr lang="en-US" sz="1800" dirty="0"/>
          </a:p>
          <a:p>
            <a:pPr indent="0" marL="0">
              <a:spcAft>
                <a:spcPts val="800"/>
              </a:spcAft>
              <a:buNone/>
            </a:pPr>
            <a:r>
              <a:rPr lang="en-US" sz="1500" dirty="0">
                <a:solidFill>
                  <a:schemeClr val="tx2"/>
                </a:solidFill>
              </a:rPr>
              <a:t>124 732 alle 60 sekunnin vuokrausta oli pyöriä, jotka palautettiin heti. Mukana ne olisivat lisänneet kysyntää keinotekoisesti 2,4 %.</a:t>
            </a:r>
            <a:endParaRPr lang="en-US" sz="1800" dirty="0"/>
          </a:p>
        </p:txBody>
      </p:sp>
      <p:sp>
        <p:nvSpPr>
          <p:cNvPr id="20" name="decision 2"/>
          <p:cNvSpPr/>
          <p:nvPr/>
        </p:nvSpPr>
        <p:spPr>
          <a:xfrm>
            <a:off x="4297680" y="2971800"/>
            <a:ext cx="3474720" cy="3017520"/>
          </a:xfrm>
          <a:prstGeom prst="roundRect">
            <a:avLst>
              <a:gd name="adj" fmla="val 2424"/>
            </a:avLst>
          </a:prstGeom>
          <a:solidFill>
            <a:schemeClr val="bg2"/>
          </a:solidFill>
          <a:ln w="12700">
            <a:solidFill>
              <a:schemeClr val="bg2"/>
            </a:solidFill>
            <a:prstDash val="solid"/>
          </a:ln>
        </p:spPr>
      </p:sp>
      <p:sp>
        <p:nvSpPr>
          <p:cNvPr id="21" name="dot 2"/>
          <p:cNvSpPr/>
          <p:nvPr/>
        </p:nvSpPr>
        <p:spPr>
          <a:xfrm>
            <a:off x="4572000" y="3200400"/>
            <a:ext cx="384048" cy="384048"/>
          </a:xfrm>
          <a:prstGeom prst="ellipse">
            <a:avLst/>
          </a:prstGeom>
          <a:solidFill>
            <a:schemeClr val="accent1"/>
          </a:solidFill>
          <a:ln w="12700">
            <a:solidFill>
              <a:schemeClr val="accent1"/>
            </a:solidFill>
            <a:prstDash val="solid"/>
          </a:ln>
        </p:spPr>
      </p:sp>
      <p:sp>
        <p:nvSpPr>
          <p:cNvPr id="22" name="dot label 2"/>
          <p:cNvSpPr txBox="1"/>
          <p:nvPr/>
        </p:nvSpPr>
        <p:spPr>
          <a:xfrm>
            <a:off x="4572000" y="3200400"/>
            <a:ext cx="384048" cy="384048"/>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23" name="decision text 2"/>
          <p:cNvSpPr txBox="1"/>
          <p:nvPr/>
        </p:nvSpPr>
        <p:spPr>
          <a:xfrm>
            <a:off x="4572000" y="3749040"/>
            <a:ext cx="2926080" cy="2148840"/>
          </a:xfrm>
          <a:prstGeom prst="rect">
            <a:avLst/>
          </a:prstGeom>
          <a:noFill/>
          <a:ln/>
        </p:spPr>
        <p:txBody>
          <a:bodyPr wrap="square" lIns="0" tIns="0" rIns="0" bIns="0" rtlCol="0" anchor="t"/>
          <a:lstStyle/>
          <a:p>
            <a:pPr indent="0" marL="0">
              <a:spcAft>
                <a:spcPts val="800"/>
              </a:spcAft>
              <a:buNone/>
            </a:pPr>
            <a:r>
              <a:rPr lang="en-US" sz="1800" b="1" dirty="0">
                <a:solidFill>
                  <a:schemeClr val="tx1"/>
                </a:solidFill>
              </a:rPr>
              <a:t>Säähavainnon aikaleima on tunnin lopussa</a:t>
            </a:r>
            <a:endParaRPr lang="en-US" sz="1800" dirty="0"/>
          </a:p>
          <a:p>
            <a:pPr indent="0" marL="0">
              <a:spcAft>
                <a:spcPts val="800"/>
              </a:spcAft>
              <a:buNone/>
            </a:pPr>
            <a:r>
              <a:rPr lang="en-US" sz="1500" dirty="0">
                <a:solidFill>
                  <a:schemeClr val="tx2"/>
                </a:solidFill>
              </a:rPr>
              <a:t>Ilmatieteen laitoksen klo 10 arvo kuvaa tuntia 9–10, joten se yhdistetään matkoihin, jotka alkavat klo 9.xx. Matkat ovat paikallista aikaa, säädata UTC-aikaa.</a:t>
            </a:r>
            <a:endParaRPr lang="en-US" sz="1800" dirty="0"/>
          </a:p>
        </p:txBody>
      </p:sp>
      <p:sp>
        <p:nvSpPr>
          <p:cNvPr id="24" name="decision 3"/>
          <p:cNvSpPr/>
          <p:nvPr/>
        </p:nvSpPr>
        <p:spPr>
          <a:xfrm>
            <a:off x="8046720" y="2971800"/>
            <a:ext cx="3474720" cy="3017520"/>
          </a:xfrm>
          <a:prstGeom prst="roundRect">
            <a:avLst>
              <a:gd name="adj" fmla="val 2424"/>
            </a:avLst>
          </a:prstGeom>
          <a:solidFill>
            <a:schemeClr val="bg2"/>
          </a:solidFill>
          <a:ln w="12700">
            <a:solidFill>
              <a:schemeClr val="bg2"/>
            </a:solidFill>
            <a:prstDash val="solid"/>
          </a:ln>
        </p:spPr>
      </p:sp>
      <p:sp>
        <p:nvSpPr>
          <p:cNvPr id="25" name="dot 3"/>
          <p:cNvSpPr/>
          <p:nvPr/>
        </p:nvSpPr>
        <p:spPr>
          <a:xfrm>
            <a:off x="8321040" y="3200400"/>
            <a:ext cx="384048" cy="384048"/>
          </a:xfrm>
          <a:prstGeom prst="ellipse">
            <a:avLst/>
          </a:prstGeom>
          <a:solidFill>
            <a:schemeClr val="accent1"/>
          </a:solidFill>
          <a:ln w="12700">
            <a:solidFill>
              <a:schemeClr val="accent1"/>
            </a:solidFill>
            <a:prstDash val="solid"/>
          </a:ln>
        </p:spPr>
      </p:sp>
      <p:sp>
        <p:nvSpPr>
          <p:cNvPr id="26" name="dot label 3"/>
          <p:cNvSpPr txBox="1"/>
          <p:nvPr/>
        </p:nvSpPr>
        <p:spPr>
          <a:xfrm>
            <a:off x="8321040" y="3200400"/>
            <a:ext cx="384048" cy="384048"/>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27" name="decision text 3"/>
          <p:cNvSpPr txBox="1"/>
          <p:nvPr/>
        </p:nvSpPr>
        <p:spPr>
          <a:xfrm>
            <a:off x="8321040" y="3749040"/>
            <a:ext cx="2926080" cy="2148840"/>
          </a:xfrm>
          <a:prstGeom prst="rect">
            <a:avLst/>
          </a:prstGeom>
          <a:noFill/>
          <a:ln/>
        </p:spPr>
        <p:txBody>
          <a:bodyPr wrap="square" lIns="0" tIns="0" rIns="0" bIns="0" rtlCol="0" anchor="t"/>
          <a:lstStyle/>
          <a:p>
            <a:pPr indent="0" marL="0">
              <a:spcAft>
                <a:spcPts val="800"/>
              </a:spcAft>
              <a:buNone/>
            </a:pPr>
            <a:r>
              <a:rPr lang="en-US" sz="1800" b="1" dirty="0">
                <a:solidFill>
                  <a:schemeClr val="tx1"/>
                </a:solidFill>
              </a:rPr>
              <a:t>Asemapiirteet kuvaavat roolia, eivät kokoa</a:t>
            </a:r>
            <a:endParaRPr lang="en-US" sz="1800" dirty="0"/>
          </a:p>
          <a:p>
            <a:pPr indent="0" marL="0">
              <a:spcAft>
                <a:spcPts val="800"/>
              </a:spcAft>
              <a:buNone/>
            </a:pPr>
            <a:r>
              <a:rPr lang="en-US" sz="1500" dirty="0">
                <a:solidFill>
                  <a:schemeClr val="tx2"/>
                </a:solidFill>
              </a:rPr>
              <a:t>Asemaa kuvaa sen lähtöjen osuus ja nettovirta viidessä vuorokauden jaksossa. Määrä jätettiin pois, joten pieni ja suuri asema voivat jakaa roolin.</a:t>
            </a:r>
            <a:endParaRPr lang="en-US" sz="1800" dirty="0"/>
          </a:p>
        </p:txBody>
      </p:sp>
      <p:sp>
        <p:nvSpPr>
          <p:cNvPr id="25" name="Slide Number Placeholder 0"/>
          <p:cNvSpPr>
            <a:spLocks noGrp="1"/>
          </p:cNvSpPr>
          <p:nvPr>
            <p:ph type="sldNum" sz="quarter" idx="4294967295"/>
          </p:nvPr>
        </p:nvSpPr>
        <p:spPr>
          <a:xfrm>
            <a:off x="11292840" y="6419088"/>
            <a:ext cx="36576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lIns="0" tIns="0" rIns="0" bIns="0" rtlCol="0"/>
          <a:lstStyle/>
          <a:p>
            <a:pPr indent="0" marL="0">
              <a:buNone/>
            </a:pPr>
            <a:r>
              <a:rPr lang="en-US" sz="1200" b="1" spc="100" kern="0" dirty="0">
                <a:solidFill>
                  <a:schemeClr val="accent2"/>
                </a:solidFill>
              </a:rPr>
              <a:t>4 · MALLINNUS · TK1</a:t>
            </a:r>
            <a:endParaRPr lang="en-US" sz="1200" dirty="0"/>
          </a:p>
        </p:txBody>
      </p:sp>
      <p:sp>
        <p:nvSpPr>
          <p:cNvPr id="3" name="Text 0"/>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000" b="1" dirty="0">
                <a:solidFill>
                  <a:schemeClr val="tx1"/>
                </a:solidFill>
              </a:rPr>
              <a:t>Pelkkä käyttö jakaa asemat viiteen rooliin</a:t>
            </a:r>
            <a:endParaRPr lang="en-US" sz="3000" dirty="0"/>
          </a:p>
        </p:txBody>
      </p:sp>
      <p:sp>
        <p:nvSpPr>
          <p:cNvPr id="4" name="speaker dot"/>
          <p:cNvSpPr/>
          <p:nvPr/>
        </p:nvSpPr>
        <p:spPr>
          <a:xfrm>
            <a:off x="8796528" y="6437376"/>
            <a:ext cx="155448" cy="155448"/>
          </a:xfrm>
          <a:prstGeom prst="ellipse">
            <a:avLst/>
          </a:prstGeom>
          <a:solidFill>
            <a:schemeClr val="accent1"/>
          </a:solidFill>
          <a:ln w="12700">
            <a:solidFill>
              <a:schemeClr val="accent1"/>
            </a:solidFill>
            <a:prstDash val="solid"/>
          </a:ln>
        </p:spPr>
      </p:sp>
      <p:sp>
        <p:nvSpPr>
          <p:cNvPr id="5" name="Text 1"/>
          <p:cNvSpPr/>
          <p:nvPr>
            <p:ph idx="103" type="body" hasCustomPrompt="1"/>
          </p:nvPr>
        </p:nvSpPr>
        <p:spPr>
          <a:xfrm>
            <a:off x="9034272" y="6419088"/>
            <a:ext cx="2194560" cy="256032"/>
          </a:xfrm>
          <a:prstGeom prst="rect">
            <a:avLst/>
          </a:prstGeom>
          <a:noFill/>
          <a:ln/>
        </p:spPr>
        <p:txBody>
          <a:bodyPr wrap="square" lIns="0" tIns="0" rIns="0" bIns="0" rtlCol="0"/>
          <a:lstStyle/>
          <a:p>
            <a:pPr indent="0" marL="0">
              <a:buNone/>
            </a:pPr>
            <a:r>
              <a:rPr lang="en-US" sz="1000" b="1" dirty="0">
                <a:solidFill>
                  <a:schemeClr val="tx2"/>
                </a:solidFill>
              </a:rPr>
              <a:t>Esittäjä: Elias N</a:t>
            </a:r>
            <a:endParaRPr lang="en-US" sz="1000" dirty="0"/>
          </a:p>
        </p:txBody>
      </p:sp>
      <p:pic>
        <p:nvPicPr>
          <p:cNvPr id="6" name="profiles.png" descr="Viiden asemaroolin keskimääräiset lähtevät ja saapuvat pyörät arkipäivän tunneittain">    </p:cNvPr>
          <p:cNvPicPr>
            <a:picLocks noChangeAspect="1"/>
          </p:cNvPicPr>
          <p:nvPr/>
        </p:nvPicPr>
        <p:blipFill>
          <a:blip r:embed="rId1"/>
          <a:stretch>
            <a:fillRect/>
          </a:stretch>
        </p:blipFill>
        <p:spPr>
          <a:xfrm>
            <a:off x="548640" y="1463040"/>
            <a:ext cx="11064240" cy="2733419"/>
          </a:xfrm>
          <a:prstGeom prst="rect">
            <a:avLst/>
          </a:prstGeom>
        </p:spPr>
      </p:pic>
      <p:sp>
        <p:nvSpPr>
          <p:cNvPr id="7" name="method box"/>
          <p:cNvSpPr/>
          <p:nvPr/>
        </p:nvSpPr>
        <p:spPr>
          <a:xfrm>
            <a:off x="548640" y="4526280"/>
            <a:ext cx="6675120" cy="1463040"/>
          </a:xfrm>
          <a:prstGeom prst="roundRect">
            <a:avLst>
              <a:gd name="adj" fmla="val 5000"/>
            </a:avLst>
          </a:prstGeom>
          <a:solidFill>
            <a:schemeClr val="bg2"/>
          </a:solidFill>
          <a:ln w="12700">
            <a:solidFill>
              <a:schemeClr val="bg2"/>
            </a:solidFill>
            <a:prstDash val="solid"/>
          </a:ln>
        </p:spPr>
      </p:sp>
      <p:sp>
        <p:nvSpPr>
          <p:cNvPr id="8" name="method text"/>
          <p:cNvSpPr txBox="1"/>
          <p:nvPr/>
        </p:nvSpPr>
        <p:spPr>
          <a:xfrm>
            <a:off x="777240" y="4663440"/>
            <a:ext cx="6263640" cy="123444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Menetelmä</a:t>
            </a:r>
            <a:endParaRPr lang="en-US" sz="1600" dirty="0"/>
          </a:p>
          <a:p>
            <a:pPr indent="0" marL="0">
              <a:spcAft>
                <a:spcPts val="400"/>
              </a:spcAft>
              <a:buNone/>
            </a:pPr>
            <a:r>
              <a:rPr lang="en-US" sz="1400" dirty="0">
                <a:solidFill>
                  <a:schemeClr val="tx2"/>
                </a:solidFill>
              </a:rPr>
              <a:t>11 piirrettä asemaa kohden: arkilähtöjen osuus ja nettovirta viidessä vuorokauden jaksossa sekä viikonloppuosuus. Standardointi ja k-means, k = 5. Yhtenäinen viiva = lähtevät pyörät, katkoviiva = saapuvat.</a:t>
            </a:r>
            <a:endParaRPr lang="en-US" sz="1600" dirty="0"/>
          </a:p>
        </p:txBody>
      </p:sp>
      <p:sp>
        <p:nvSpPr>
          <p:cNvPr id="9" name="stat 1"/>
          <p:cNvSpPr txBox="1"/>
          <p:nvPr/>
        </p:nvSpPr>
        <p:spPr>
          <a:xfrm>
            <a:off x="7498080" y="4526280"/>
            <a:ext cx="1325880" cy="1691640"/>
          </a:xfrm>
          <a:prstGeom prst="rect">
            <a:avLst/>
          </a:prstGeom>
          <a:noFill/>
          <a:ln/>
        </p:spPr>
        <p:txBody>
          <a:bodyPr wrap="square" lIns="0" tIns="0" rIns="0" bIns="0" rtlCol="0" anchor="t"/>
          <a:lstStyle/>
          <a:p>
            <a:pPr indent="0" marL="0">
              <a:buNone/>
            </a:pPr>
            <a:r>
              <a:rPr lang="en-US" sz="2800" b="1" dirty="0">
                <a:solidFill>
                  <a:schemeClr val="tx1"/>
                </a:solidFill>
              </a:rPr>
              <a:t>453</a:t>
            </a:r>
            <a:endParaRPr lang="en-US" sz="2800" dirty="0"/>
          </a:p>
          <a:p>
            <a:pPr indent="0" marL="0">
              <a:buNone/>
            </a:pPr>
            <a:r>
              <a:rPr lang="en-US" sz="1200" dirty="0">
                <a:solidFill>
                  <a:schemeClr val="tx2"/>
                </a:solidFill>
              </a:rPr>
              <a:t>klusteroitua asemaa</a:t>
            </a:r>
            <a:endParaRPr lang="en-US" sz="2800" dirty="0"/>
          </a:p>
        </p:txBody>
      </p:sp>
      <p:sp>
        <p:nvSpPr>
          <p:cNvPr id="10" name="stat 2"/>
          <p:cNvSpPr txBox="1"/>
          <p:nvPr/>
        </p:nvSpPr>
        <p:spPr>
          <a:xfrm>
            <a:off x="8897112" y="4526280"/>
            <a:ext cx="1325880" cy="1691640"/>
          </a:xfrm>
          <a:prstGeom prst="rect">
            <a:avLst/>
          </a:prstGeom>
          <a:noFill/>
          <a:ln/>
        </p:spPr>
        <p:txBody>
          <a:bodyPr wrap="square" lIns="0" tIns="0" rIns="0" bIns="0" rtlCol="0" anchor="t"/>
          <a:lstStyle/>
          <a:p>
            <a:pPr indent="0" marL="0">
              <a:buNone/>
            </a:pPr>
            <a:r>
              <a:rPr lang="en-US" sz="2800" b="1" dirty="0">
                <a:solidFill>
                  <a:schemeClr val="tx1"/>
                </a:solidFill>
              </a:rPr>
              <a:t>0,84</a:t>
            </a:r>
            <a:endParaRPr lang="en-US" sz="2800" dirty="0"/>
          </a:p>
          <a:p>
            <a:pPr indent="0" marL="0">
              <a:buNone/>
            </a:pPr>
            <a:r>
              <a:rPr lang="en-US" sz="1200" dirty="0">
                <a:solidFill>
                  <a:schemeClr val="tx2"/>
                </a:solidFill>
              </a:rPr>
              <a:t>vakaus 80 %:n osaotoksissa (ARI)</a:t>
            </a:r>
            <a:endParaRPr lang="en-US" sz="2800" dirty="0"/>
          </a:p>
        </p:txBody>
      </p:sp>
      <p:sp>
        <p:nvSpPr>
          <p:cNvPr id="11" name="stat 3"/>
          <p:cNvSpPr txBox="1"/>
          <p:nvPr/>
        </p:nvSpPr>
        <p:spPr>
          <a:xfrm>
            <a:off x="10296144" y="4526280"/>
            <a:ext cx="1325880" cy="1691640"/>
          </a:xfrm>
          <a:prstGeom prst="rect">
            <a:avLst/>
          </a:prstGeom>
          <a:noFill/>
          <a:ln/>
        </p:spPr>
        <p:txBody>
          <a:bodyPr wrap="square" lIns="0" tIns="0" rIns="0" bIns="0" rtlCol="0" anchor="t"/>
          <a:lstStyle/>
          <a:p>
            <a:pPr indent="0" marL="0">
              <a:buNone/>
            </a:pPr>
            <a:r>
              <a:rPr lang="en-US" sz="2800" b="1" dirty="0">
                <a:solidFill>
                  <a:schemeClr val="tx1"/>
                </a:solidFill>
              </a:rPr>
              <a:t>0,55</a:t>
            </a:r>
            <a:endParaRPr lang="en-US" sz="2800" dirty="0"/>
          </a:p>
          <a:p>
            <a:pPr indent="0" marL="0">
              <a:buNone/>
            </a:pPr>
            <a:r>
              <a:rPr lang="en-US" sz="1200" dirty="0">
                <a:solidFill>
                  <a:schemeClr val="tx2"/>
                </a:solidFill>
              </a:rPr>
              <a:t>yhtäpitävyys Ward-klusteroinnin kanssa (ARI)</a:t>
            </a:r>
            <a:endParaRPr lang="en-US" sz="2800" dirty="0"/>
          </a:p>
        </p:txBody>
      </p:sp>
      <p:sp>
        <p:nvSpPr>
          <p:cNvPr id="25" name="Slide Number Placeholder 0"/>
          <p:cNvSpPr>
            <a:spLocks noGrp="1"/>
          </p:cNvSpPr>
          <p:nvPr>
            <p:ph type="sldNum" sz="quarter" idx="4294967295"/>
          </p:nvPr>
        </p:nvSpPr>
        <p:spPr>
          <a:xfrm>
            <a:off x="11292840" y="6419088"/>
            <a:ext cx="36576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lIns="0" tIns="0" rIns="0" bIns="0" rtlCol="0"/>
          <a:lstStyle/>
          <a:p>
            <a:pPr indent="0" marL="0">
              <a:buNone/>
            </a:pPr>
            <a:r>
              <a:rPr lang="en-US" sz="1200" b="1" spc="100" kern="0" dirty="0">
                <a:solidFill>
                  <a:schemeClr val="accent2"/>
                </a:solidFill>
              </a:rPr>
              <a:t>5 · ARVIOINTI · TK1</a:t>
            </a:r>
            <a:endParaRPr lang="en-US" sz="1200" dirty="0"/>
          </a:p>
        </p:txBody>
      </p:sp>
      <p:sp>
        <p:nvSpPr>
          <p:cNvPr id="3" name="Text 0"/>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000" b="1" dirty="0">
                <a:solidFill>
                  <a:schemeClr val="tx1"/>
                </a:solidFill>
              </a:rPr>
              <a:t>Aamun määränpäät: työpaikat, kampukset ja juna-asemat</a:t>
            </a:r>
            <a:endParaRPr lang="en-US" sz="3000" dirty="0"/>
          </a:p>
        </p:txBody>
      </p:sp>
      <p:sp>
        <p:nvSpPr>
          <p:cNvPr id="4" name="speaker dot"/>
          <p:cNvSpPr/>
          <p:nvPr/>
        </p:nvSpPr>
        <p:spPr>
          <a:xfrm>
            <a:off x="8796528" y="6437376"/>
            <a:ext cx="155448" cy="155448"/>
          </a:xfrm>
          <a:prstGeom prst="ellipse">
            <a:avLst/>
          </a:prstGeom>
          <a:solidFill>
            <a:schemeClr val="accent1"/>
          </a:solidFill>
          <a:ln w="12700">
            <a:solidFill>
              <a:schemeClr val="accent1"/>
            </a:solidFill>
            <a:prstDash val="solid"/>
          </a:ln>
        </p:spPr>
      </p:sp>
      <p:sp>
        <p:nvSpPr>
          <p:cNvPr id="5" name="Text 1"/>
          <p:cNvSpPr/>
          <p:nvPr>
            <p:ph idx="103" type="body" hasCustomPrompt="1"/>
          </p:nvPr>
        </p:nvSpPr>
        <p:spPr>
          <a:xfrm>
            <a:off x="9034272" y="6419088"/>
            <a:ext cx="2194560" cy="256032"/>
          </a:xfrm>
          <a:prstGeom prst="rect">
            <a:avLst/>
          </a:prstGeom>
          <a:noFill/>
          <a:ln/>
        </p:spPr>
        <p:txBody>
          <a:bodyPr wrap="square" lIns="0" tIns="0" rIns="0" bIns="0" rtlCol="0"/>
          <a:lstStyle/>
          <a:p>
            <a:pPr indent="0" marL="0">
              <a:buNone/>
            </a:pPr>
            <a:r>
              <a:rPr lang="en-US" sz="1000" b="1" dirty="0">
                <a:solidFill>
                  <a:schemeClr val="tx2"/>
                </a:solidFill>
              </a:rPr>
              <a:t>Esittäjä: Veijo</a:t>
            </a:r>
            <a:endParaRPr lang="en-US" sz="1000" dirty="0"/>
          </a:p>
        </p:txBody>
      </p:sp>
      <p:pic>
        <p:nvPicPr>
          <p:cNvPr id="6" name="map.png" descr="Asemat kartalla roolin mukaan väritettyinä, aamun määränpäät korostettuina">    </p:cNvPr>
          <p:cNvPicPr>
            <a:picLocks noChangeAspect="1"/>
          </p:cNvPicPr>
          <p:nvPr/>
        </p:nvPicPr>
        <p:blipFill>
          <a:blip r:embed="rId1"/>
          <a:stretch>
            <a:fillRect/>
          </a:stretch>
        </p:blipFill>
        <p:spPr>
          <a:xfrm>
            <a:off x="548640" y="1417320"/>
            <a:ext cx="6949440" cy="4174966"/>
          </a:xfrm>
          <a:prstGeom prst="rect">
            <a:avLst/>
          </a:prstGeom>
        </p:spPr>
      </p:pic>
      <p:sp>
        <p:nvSpPr>
          <p:cNvPr id="7" name="place dot 1"/>
          <p:cNvSpPr/>
          <p:nvPr/>
        </p:nvSpPr>
        <p:spPr>
          <a:xfrm>
            <a:off x="7863840" y="1627632"/>
            <a:ext cx="237744" cy="237744"/>
          </a:xfrm>
          <a:prstGeom prst="ellipse">
            <a:avLst/>
          </a:prstGeom>
          <a:solidFill>
            <a:schemeClr val="accent3"/>
          </a:solidFill>
          <a:ln w="12700">
            <a:solidFill>
              <a:schemeClr val="accent3"/>
            </a:solidFill>
            <a:prstDash val="solid"/>
          </a:ln>
        </p:spPr>
      </p:sp>
      <p:sp>
        <p:nvSpPr>
          <p:cNvPr id="8" name="place 1"/>
          <p:cNvSpPr txBox="1"/>
          <p:nvPr/>
        </p:nvSpPr>
        <p:spPr>
          <a:xfrm>
            <a:off x="8275320" y="1554480"/>
            <a:ext cx="3383280" cy="777240"/>
          </a:xfrm>
          <a:prstGeom prst="rect">
            <a:avLst/>
          </a:prstGeom>
          <a:noFill/>
          <a:ln/>
        </p:spPr>
        <p:txBody>
          <a:bodyPr wrap="square" lIns="0" tIns="0" rIns="0" bIns="0" rtlCol="0" anchor="t"/>
          <a:lstStyle/>
          <a:p>
            <a:pPr indent="0" marL="0">
              <a:buNone/>
            </a:pPr>
            <a:r>
              <a:rPr lang="en-US" sz="1700" b="1" dirty="0">
                <a:solidFill>
                  <a:schemeClr val="tx1"/>
                </a:solidFill>
              </a:rPr>
              <a:t>Keskusta</a:t>
            </a:r>
            <a:endParaRPr lang="en-US" sz="1700" dirty="0"/>
          </a:p>
          <a:p>
            <a:pPr indent="0" marL="0">
              <a:buNone/>
            </a:pPr>
            <a:r>
              <a:rPr lang="en-US" sz="1400" dirty="0">
                <a:solidFill>
                  <a:schemeClr val="tx2"/>
                </a:solidFill>
              </a:rPr>
              <a:t>Esplanadi, Senaatintori, Kamppi</a:t>
            </a:r>
            <a:endParaRPr lang="en-US" sz="1700" dirty="0"/>
          </a:p>
        </p:txBody>
      </p:sp>
      <p:sp>
        <p:nvSpPr>
          <p:cNvPr id="9" name="place dot 2"/>
          <p:cNvSpPr/>
          <p:nvPr/>
        </p:nvSpPr>
        <p:spPr>
          <a:xfrm>
            <a:off x="7863840" y="2496312"/>
            <a:ext cx="237744" cy="237744"/>
          </a:xfrm>
          <a:prstGeom prst="ellipse">
            <a:avLst/>
          </a:prstGeom>
          <a:solidFill>
            <a:schemeClr val="accent3"/>
          </a:solidFill>
          <a:ln w="12700">
            <a:solidFill>
              <a:schemeClr val="accent3"/>
            </a:solidFill>
            <a:prstDash val="solid"/>
          </a:ln>
        </p:spPr>
      </p:sp>
      <p:sp>
        <p:nvSpPr>
          <p:cNvPr id="10" name="place 2"/>
          <p:cNvSpPr txBox="1"/>
          <p:nvPr/>
        </p:nvSpPr>
        <p:spPr>
          <a:xfrm>
            <a:off x="8275320" y="2423160"/>
            <a:ext cx="3383280" cy="777240"/>
          </a:xfrm>
          <a:prstGeom prst="rect">
            <a:avLst/>
          </a:prstGeom>
          <a:noFill/>
          <a:ln/>
        </p:spPr>
        <p:txBody>
          <a:bodyPr wrap="square" lIns="0" tIns="0" rIns="0" bIns="0" rtlCol="0" anchor="t"/>
          <a:lstStyle/>
          <a:p>
            <a:pPr indent="0" marL="0">
              <a:buNone/>
            </a:pPr>
            <a:r>
              <a:rPr lang="en-US" sz="1700" b="1" dirty="0">
                <a:solidFill>
                  <a:schemeClr val="tx1"/>
                </a:solidFill>
              </a:rPr>
              <a:t>Otaniemi ja Keilaniemi</a:t>
            </a:r>
            <a:endParaRPr lang="en-US" sz="1700" dirty="0"/>
          </a:p>
          <a:p>
            <a:pPr indent="0" marL="0">
              <a:buNone/>
            </a:pPr>
            <a:r>
              <a:rPr lang="en-US" sz="1400" dirty="0">
                <a:solidFill>
                  <a:schemeClr val="tx2"/>
                </a:solidFill>
              </a:rPr>
              <a:t>Yliopistokampus ja toimistotornit</a:t>
            </a:r>
            <a:endParaRPr lang="en-US" sz="1700" dirty="0"/>
          </a:p>
        </p:txBody>
      </p:sp>
      <p:sp>
        <p:nvSpPr>
          <p:cNvPr id="11" name="place dot 3"/>
          <p:cNvSpPr/>
          <p:nvPr/>
        </p:nvSpPr>
        <p:spPr>
          <a:xfrm>
            <a:off x="7863840" y="3364992"/>
            <a:ext cx="237744" cy="237744"/>
          </a:xfrm>
          <a:prstGeom prst="ellipse">
            <a:avLst/>
          </a:prstGeom>
          <a:solidFill>
            <a:schemeClr val="accent3"/>
          </a:solidFill>
          <a:ln w="12700">
            <a:solidFill>
              <a:schemeClr val="accent3"/>
            </a:solidFill>
            <a:prstDash val="solid"/>
          </a:ln>
        </p:spPr>
      </p:sp>
      <p:sp>
        <p:nvSpPr>
          <p:cNvPr id="12" name="place 3"/>
          <p:cNvSpPr txBox="1"/>
          <p:nvPr/>
        </p:nvSpPr>
        <p:spPr>
          <a:xfrm>
            <a:off x="8275320" y="3291840"/>
            <a:ext cx="3383280" cy="777240"/>
          </a:xfrm>
          <a:prstGeom prst="rect">
            <a:avLst/>
          </a:prstGeom>
          <a:noFill/>
          <a:ln/>
        </p:spPr>
        <p:txBody>
          <a:bodyPr wrap="square" lIns="0" tIns="0" rIns="0" bIns="0" rtlCol="0" anchor="t"/>
          <a:lstStyle/>
          <a:p>
            <a:pPr indent="0" marL="0">
              <a:buNone/>
            </a:pPr>
            <a:r>
              <a:rPr lang="en-US" sz="1700" b="1" dirty="0">
                <a:solidFill>
                  <a:schemeClr val="tx1"/>
                </a:solidFill>
              </a:rPr>
              <a:t>Pasila ja Ilmala</a:t>
            </a:r>
            <a:endParaRPr lang="en-US" sz="1700" dirty="0"/>
          </a:p>
          <a:p>
            <a:pPr indent="0" marL="0">
              <a:buNone/>
            </a:pPr>
            <a:r>
              <a:rPr lang="en-US" sz="1400" dirty="0">
                <a:solidFill>
                  <a:schemeClr val="tx2"/>
                </a:solidFill>
              </a:rPr>
              <a:t>Toimistoalueet radan varrella</a:t>
            </a:r>
            <a:endParaRPr lang="en-US" sz="1700" dirty="0"/>
          </a:p>
        </p:txBody>
      </p:sp>
      <p:sp>
        <p:nvSpPr>
          <p:cNvPr id="13" name="place dot 4"/>
          <p:cNvSpPr/>
          <p:nvPr/>
        </p:nvSpPr>
        <p:spPr>
          <a:xfrm>
            <a:off x="7863840" y="4233672"/>
            <a:ext cx="237744" cy="237744"/>
          </a:xfrm>
          <a:prstGeom prst="ellipse">
            <a:avLst/>
          </a:prstGeom>
          <a:solidFill>
            <a:schemeClr val="accent3"/>
          </a:solidFill>
          <a:ln w="12700">
            <a:solidFill>
              <a:schemeClr val="accent3"/>
            </a:solidFill>
            <a:prstDash val="solid"/>
          </a:ln>
        </p:spPr>
      </p:sp>
      <p:sp>
        <p:nvSpPr>
          <p:cNvPr id="14" name="place 4"/>
          <p:cNvSpPr txBox="1"/>
          <p:nvPr/>
        </p:nvSpPr>
        <p:spPr>
          <a:xfrm>
            <a:off x="8275320" y="4160520"/>
            <a:ext cx="3383280" cy="777240"/>
          </a:xfrm>
          <a:prstGeom prst="rect">
            <a:avLst/>
          </a:prstGeom>
          <a:noFill/>
          <a:ln/>
        </p:spPr>
        <p:txBody>
          <a:bodyPr wrap="square" lIns="0" tIns="0" rIns="0" bIns="0" rtlCol="0" anchor="t"/>
          <a:lstStyle/>
          <a:p>
            <a:pPr indent="0" marL="0">
              <a:buNone/>
            </a:pPr>
            <a:r>
              <a:rPr lang="en-US" sz="1700" b="1" dirty="0">
                <a:solidFill>
                  <a:schemeClr val="tx1"/>
                </a:solidFill>
              </a:rPr>
              <a:t>Esikaupunkien juna-asemat</a:t>
            </a:r>
            <a:endParaRPr lang="en-US" sz="1700" dirty="0"/>
          </a:p>
          <a:p>
            <a:pPr indent="0" marL="0">
              <a:buNone/>
            </a:pPr>
            <a:r>
              <a:rPr lang="en-US" sz="1400" dirty="0">
                <a:solidFill>
                  <a:schemeClr val="tx2"/>
                </a:solidFill>
              </a:rPr>
              <a:t>Malmi, Puistola: pyörällä junalle</a:t>
            </a:r>
            <a:endParaRPr lang="en-US" sz="1700" dirty="0"/>
          </a:p>
        </p:txBody>
      </p:sp>
      <p:sp>
        <p:nvSpPr>
          <p:cNvPr id="15" name="caveat box"/>
          <p:cNvSpPr/>
          <p:nvPr/>
        </p:nvSpPr>
        <p:spPr>
          <a:xfrm>
            <a:off x="7863840" y="5074920"/>
            <a:ext cx="3749040" cy="1188720"/>
          </a:xfrm>
          <a:prstGeom prst="roundRect">
            <a:avLst>
              <a:gd name="adj" fmla="val 6154"/>
            </a:avLst>
          </a:prstGeom>
          <a:solidFill>
            <a:schemeClr val="bg2"/>
          </a:solidFill>
          <a:ln w="12700">
            <a:solidFill>
              <a:schemeClr val="bg2"/>
            </a:solidFill>
            <a:prstDash val="solid"/>
          </a:ln>
        </p:spPr>
      </p:sp>
      <p:sp>
        <p:nvSpPr>
          <p:cNvPr id="16" name="caveat text"/>
          <p:cNvSpPr txBox="1"/>
          <p:nvPr/>
        </p:nvSpPr>
        <p:spPr>
          <a:xfrm>
            <a:off x="8046720" y="5138928"/>
            <a:ext cx="3429000" cy="1060704"/>
          </a:xfrm>
          <a:prstGeom prst="rect">
            <a:avLst/>
          </a:prstGeom>
          <a:noFill/>
          <a:ln/>
        </p:spPr>
        <p:txBody>
          <a:bodyPr wrap="square" lIns="0" tIns="0" rIns="0" bIns="0" rtlCol="0" anchor="ctr"/>
          <a:lstStyle/>
          <a:p>
            <a:pPr indent="0" marL="0">
              <a:buNone/>
            </a:pPr>
            <a:r>
              <a:rPr lang="en-US" sz="1300" dirty="0">
                <a:solidFill>
                  <a:schemeClr val="tx2"/>
                </a:solidFill>
              </a:rPr>
              <a:t>Sijaintia ei käytetty piirteenä. Muut roolit sekoittuvat kaupunginosien sisällä, ja siluettiarvo (0,19) kertoo roolien rajojen olevan liukuvia.</a:t>
            </a:r>
            <a:endParaRPr lang="en-US" sz="1300" dirty="0"/>
          </a:p>
        </p:txBody>
      </p:sp>
      <p:sp>
        <p:nvSpPr>
          <p:cNvPr id="25" name="Slide Number Placeholder 0"/>
          <p:cNvSpPr>
            <a:spLocks noGrp="1"/>
          </p:cNvSpPr>
          <p:nvPr>
            <p:ph type="sldNum" sz="quarter" idx="4294967295"/>
          </p:nvPr>
        </p:nvSpPr>
        <p:spPr>
          <a:xfrm>
            <a:off x="11292840" y="6419088"/>
            <a:ext cx="36576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lIns="0" tIns="0" rIns="0" bIns="0" rtlCol="0"/>
          <a:lstStyle/>
          <a:p>
            <a:pPr indent="0" marL="0">
              <a:buNone/>
            </a:pPr>
            <a:r>
              <a:rPr lang="en-US" sz="1200" b="1" spc="100" kern="0" dirty="0">
                <a:solidFill>
                  <a:schemeClr val="accent2"/>
                </a:solidFill>
              </a:rPr>
              <a:t>4–5 · MALLINNUS JA ARVIOINTI · TK2</a:t>
            </a:r>
            <a:endParaRPr lang="en-US" sz="1200" dirty="0"/>
          </a:p>
        </p:txBody>
      </p:sp>
      <p:sp>
        <p:nvSpPr>
          <p:cNvPr id="3" name="Text 0"/>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000" b="1" dirty="0">
                <a:solidFill>
                  <a:schemeClr val="tx1"/>
                </a:solidFill>
              </a:rPr>
              <a:t>Säätiedot pienentävät ennustevirhettä kolmanneksella</a:t>
            </a:r>
            <a:endParaRPr lang="en-US" sz="3000" dirty="0"/>
          </a:p>
        </p:txBody>
      </p:sp>
      <p:sp>
        <p:nvSpPr>
          <p:cNvPr id="4" name="speaker dot"/>
          <p:cNvSpPr/>
          <p:nvPr/>
        </p:nvSpPr>
        <p:spPr>
          <a:xfrm>
            <a:off x="8796528" y="6437376"/>
            <a:ext cx="155448" cy="155448"/>
          </a:xfrm>
          <a:prstGeom prst="ellipse">
            <a:avLst/>
          </a:prstGeom>
          <a:solidFill>
            <a:schemeClr val="accent1"/>
          </a:solidFill>
          <a:ln w="12700">
            <a:solidFill>
              <a:schemeClr val="accent1"/>
            </a:solidFill>
            <a:prstDash val="solid"/>
          </a:ln>
        </p:spPr>
      </p:sp>
      <p:sp>
        <p:nvSpPr>
          <p:cNvPr id="5" name="Text 1"/>
          <p:cNvSpPr/>
          <p:nvPr>
            <p:ph idx="103" type="body" hasCustomPrompt="1"/>
          </p:nvPr>
        </p:nvSpPr>
        <p:spPr>
          <a:xfrm>
            <a:off x="9034272" y="6419088"/>
            <a:ext cx="2194560" cy="256032"/>
          </a:xfrm>
          <a:prstGeom prst="rect">
            <a:avLst/>
          </a:prstGeom>
          <a:noFill/>
          <a:ln/>
        </p:spPr>
        <p:txBody>
          <a:bodyPr wrap="square" lIns="0" tIns="0" rIns="0" bIns="0" rtlCol="0"/>
          <a:lstStyle/>
          <a:p>
            <a:pPr indent="0" marL="0">
              <a:buNone/>
            </a:pPr>
            <a:r>
              <a:rPr lang="en-US" sz="1000" b="1" dirty="0">
                <a:solidFill>
                  <a:schemeClr val="tx2"/>
                </a:solidFill>
              </a:rPr>
              <a:t>Esittäjä: Veijo</a:t>
            </a:r>
            <a:endParaRPr lang="en-US" sz="1000" dirty="0"/>
          </a:p>
        </p:txBody>
      </p:sp>
      <p:graphicFrame>
        <p:nvGraphicFramePr>
          <p:cNvPr id="6" name="Chart 0" descr=""/>
          <p:cNvGraphicFramePr/>
          <p:nvPr/>
        </p:nvGraphicFramePr>
        <p:xfrm>
          <a:off x="548640" y="1463040"/>
          <a:ext cx="6949440" cy="4800600"/>
        </p:xfrm>
        <a:graphic xmlns:a="http://schemas.openxmlformats.org/drawingml/2006/main">
          <a:graphicData uri="http://schemas.openxmlformats.org/drawingml/2006/chart">
            <c:chart xmlns:c="http://schemas.openxmlformats.org/drawingml/2006/chart" r:id="rId1"/>
          </a:graphicData>
        </a:graphic>
      </p:graphicFrame>
      <p:sp>
        <p:nvSpPr>
          <p:cNvPr id="7" name="setup box"/>
          <p:cNvSpPr/>
          <p:nvPr/>
        </p:nvSpPr>
        <p:spPr>
          <a:xfrm>
            <a:off x="7863840" y="1463040"/>
            <a:ext cx="3749040" cy="822960"/>
          </a:xfrm>
          <a:prstGeom prst="roundRect">
            <a:avLst>
              <a:gd name="adj" fmla="val 8889"/>
            </a:avLst>
          </a:prstGeom>
          <a:solidFill>
            <a:schemeClr val="bg2"/>
          </a:solidFill>
          <a:ln w="12700">
            <a:solidFill>
              <a:schemeClr val="bg2"/>
            </a:solidFill>
            <a:prstDash val="solid"/>
          </a:ln>
        </p:spPr>
      </p:sp>
      <p:sp>
        <p:nvSpPr>
          <p:cNvPr id="8" name="setup text"/>
          <p:cNvSpPr txBox="1"/>
          <p:nvPr/>
        </p:nvSpPr>
        <p:spPr>
          <a:xfrm>
            <a:off x="8046720" y="1508760"/>
            <a:ext cx="3429000" cy="731520"/>
          </a:xfrm>
          <a:prstGeom prst="rect">
            <a:avLst/>
          </a:prstGeom>
          <a:noFill/>
          <a:ln/>
        </p:spPr>
        <p:txBody>
          <a:bodyPr wrap="square" lIns="0" tIns="0" rIns="0" bIns="0" rtlCol="0" anchor="ctr"/>
          <a:lstStyle/>
          <a:p>
            <a:pPr indent="0" marL="0">
              <a:buNone/>
            </a:pPr>
            <a:r>
              <a:rPr lang="en-US" sz="1300" dirty="0">
                <a:solidFill>
                  <a:schemeClr val="tx2"/>
                </a:solidFill>
              </a:rPr>
              <a:t>Opetettu vain vuoden 2024 datalla, testattu koko kaudella 2025 (5 133 tuntia)</a:t>
            </a:r>
            <a:endParaRPr lang="en-US" sz="1300" dirty="0"/>
          </a:p>
        </p:txBody>
      </p:sp>
      <p:sp>
        <p:nvSpPr>
          <p:cNvPr id="9" name="rq2 stat 1"/>
          <p:cNvSpPr txBox="1"/>
          <p:nvPr/>
        </p:nvSpPr>
        <p:spPr>
          <a:xfrm>
            <a:off x="7863840" y="2560320"/>
            <a:ext cx="3749040" cy="1143000"/>
          </a:xfrm>
          <a:prstGeom prst="rect">
            <a:avLst/>
          </a:prstGeom>
          <a:noFill/>
          <a:ln/>
        </p:spPr>
        <p:txBody>
          <a:bodyPr wrap="square" lIns="0" tIns="0" rIns="0" bIns="0" rtlCol="0" anchor="t"/>
          <a:lstStyle/>
          <a:p>
            <a:pPr indent="0" marL="0">
              <a:buNone/>
            </a:pPr>
            <a:r>
              <a:rPr lang="en-US" sz="3200" b="1" dirty="0">
                <a:solidFill>
                  <a:schemeClr val="tx1"/>
                </a:solidFill>
              </a:rPr>
              <a:t>−35 %</a:t>
            </a:r>
            <a:endParaRPr lang="en-US" sz="3200" dirty="0"/>
          </a:p>
          <a:p>
            <a:pPr indent="0" marL="0">
              <a:buNone/>
            </a:pPr>
            <a:r>
              <a:rPr lang="en-US" sz="1400" dirty="0">
                <a:solidFill>
                  <a:schemeClr val="tx2"/>
                </a:solidFill>
              </a:rPr>
              <a:t>virhe, kun sää lisätään (109 → 71 matkaa/h)</a:t>
            </a:r>
            <a:endParaRPr lang="en-US" sz="3200" dirty="0"/>
          </a:p>
        </p:txBody>
      </p:sp>
      <p:sp>
        <p:nvSpPr>
          <p:cNvPr id="10" name="rq2 stat 2"/>
          <p:cNvSpPr txBox="1"/>
          <p:nvPr/>
        </p:nvSpPr>
        <p:spPr>
          <a:xfrm>
            <a:off x="7863840" y="3822192"/>
            <a:ext cx="3749040" cy="1143000"/>
          </a:xfrm>
          <a:prstGeom prst="rect">
            <a:avLst/>
          </a:prstGeom>
          <a:noFill/>
          <a:ln/>
        </p:spPr>
        <p:txBody>
          <a:bodyPr wrap="square" lIns="0" tIns="0" rIns="0" bIns="0" rtlCol="0" anchor="t"/>
          <a:lstStyle/>
          <a:p>
            <a:pPr indent="0" marL="0">
              <a:buNone/>
            </a:pPr>
            <a:r>
              <a:rPr lang="en-US" sz="3200" b="1" dirty="0">
                <a:solidFill>
                  <a:schemeClr val="tx1"/>
                </a:solidFill>
              </a:rPr>
              <a:t>0,81 → 0,93</a:t>
            </a:r>
            <a:endParaRPr lang="en-US" sz="3200" dirty="0"/>
          </a:p>
          <a:p>
            <a:pPr indent="0" marL="0">
              <a:buNone/>
            </a:pPr>
            <a:r>
              <a:rPr lang="en-US" sz="1400" dirty="0">
                <a:solidFill>
                  <a:schemeClr val="tx2"/>
                </a:solidFill>
              </a:rPr>
              <a:t>R², pelkkä kalenteri → sää mukana</a:t>
            </a:r>
            <a:endParaRPr lang="en-US" sz="3200" dirty="0"/>
          </a:p>
        </p:txBody>
      </p:sp>
      <p:sp>
        <p:nvSpPr>
          <p:cNvPr id="11" name="rq2 stat 3"/>
          <p:cNvSpPr txBox="1"/>
          <p:nvPr/>
        </p:nvSpPr>
        <p:spPr>
          <a:xfrm>
            <a:off x="7863840" y="5084064"/>
            <a:ext cx="3749040" cy="1143000"/>
          </a:xfrm>
          <a:prstGeom prst="rect">
            <a:avLst/>
          </a:prstGeom>
          <a:noFill/>
          <a:ln/>
        </p:spPr>
        <p:txBody>
          <a:bodyPr wrap="square" lIns="0" tIns="0" rIns="0" bIns="0" rtlCol="0" anchor="t"/>
          <a:lstStyle/>
          <a:p>
            <a:pPr indent="0" marL="0">
              <a:buNone/>
            </a:pPr>
            <a:r>
              <a:rPr lang="en-US" sz="3200" b="1" dirty="0">
                <a:solidFill>
                  <a:schemeClr val="tx1"/>
                </a:solidFill>
              </a:rPr>
              <a:t>−61 %</a:t>
            </a:r>
            <a:endParaRPr lang="en-US" sz="3200" dirty="0"/>
          </a:p>
          <a:p>
            <a:pPr indent="0" marL="0">
              <a:buNone/>
            </a:pPr>
            <a:r>
              <a:rPr lang="en-US" sz="1400" dirty="0">
                <a:solidFill>
                  <a:schemeClr val="tx2"/>
                </a:solidFill>
              </a:rPr>
              <a:t>virhe sadetunneilla (226 → 88)</a:t>
            </a:r>
            <a:endParaRPr lang="en-US" sz="3200" dirty="0"/>
          </a:p>
        </p:txBody>
      </p:sp>
      <p:sp>
        <p:nvSpPr>
          <p:cNvPr id="25" name="Slide Number Placeholder 0"/>
          <p:cNvSpPr>
            <a:spLocks noGrp="1"/>
          </p:cNvSpPr>
          <p:nvPr>
            <p:ph type="sldNum" sz="quarter" idx="4294967295"/>
          </p:nvPr>
        </p:nvSpPr>
        <p:spPr>
          <a:xfrm>
            <a:off x="11292840" y="6419088"/>
            <a:ext cx="36576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lIns="0" tIns="0" rIns="0" bIns="0" rtlCol="0"/>
          <a:lstStyle/>
          <a:p>
            <a:pPr indent="0" marL="0">
              <a:buNone/>
            </a:pPr>
            <a:r>
              <a:rPr lang="en-US" sz="1200" b="1" spc="100" kern="0" dirty="0">
                <a:solidFill>
                  <a:schemeClr val="accent2"/>
                </a:solidFill>
              </a:rPr>
              <a:t>5 · ARVIOINTI · TK2</a:t>
            </a:r>
            <a:endParaRPr lang="en-US" sz="1200" dirty="0"/>
          </a:p>
        </p:txBody>
      </p:sp>
      <p:sp>
        <p:nvSpPr>
          <p:cNvPr id="3" name="Text 0"/>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000" b="1" dirty="0">
                <a:solidFill>
                  <a:schemeClr val="tx1"/>
                </a:solidFill>
              </a:rPr>
              <a:t>Sadetunteina pelkkä kalenteriennuste on 2–3-kertainen</a:t>
            </a:r>
            <a:endParaRPr lang="en-US" sz="3000" dirty="0"/>
          </a:p>
        </p:txBody>
      </p:sp>
      <p:sp>
        <p:nvSpPr>
          <p:cNvPr id="4" name="speaker dot"/>
          <p:cNvSpPr/>
          <p:nvPr/>
        </p:nvSpPr>
        <p:spPr>
          <a:xfrm>
            <a:off x="8796528" y="6437376"/>
            <a:ext cx="155448" cy="155448"/>
          </a:xfrm>
          <a:prstGeom prst="ellipse">
            <a:avLst/>
          </a:prstGeom>
          <a:solidFill>
            <a:schemeClr val="accent1"/>
          </a:solidFill>
          <a:ln w="12700">
            <a:solidFill>
              <a:schemeClr val="accent1"/>
            </a:solidFill>
            <a:prstDash val="solid"/>
          </a:ln>
        </p:spPr>
      </p:sp>
      <p:sp>
        <p:nvSpPr>
          <p:cNvPr id="5" name="Text 1"/>
          <p:cNvSpPr/>
          <p:nvPr>
            <p:ph idx="103" type="body" hasCustomPrompt="1"/>
          </p:nvPr>
        </p:nvSpPr>
        <p:spPr>
          <a:xfrm>
            <a:off x="9034272" y="6419088"/>
            <a:ext cx="2194560" cy="256032"/>
          </a:xfrm>
          <a:prstGeom prst="rect">
            <a:avLst/>
          </a:prstGeom>
          <a:noFill/>
          <a:ln/>
        </p:spPr>
        <p:txBody>
          <a:bodyPr wrap="square" lIns="0" tIns="0" rIns="0" bIns="0" rtlCol="0"/>
          <a:lstStyle/>
          <a:p>
            <a:pPr indent="0" marL="0">
              <a:buNone/>
            </a:pPr>
            <a:r>
              <a:rPr lang="en-US" sz="1000" b="1" dirty="0">
                <a:solidFill>
                  <a:schemeClr val="tx2"/>
                </a:solidFill>
              </a:rPr>
              <a:t>Esittäjä: Veijo</a:t>
            </a:r>
            <a:endParaRPr lang="en-US" sz="1000" dirty="0"/>
          </a:p>
        </p:txBody>
      </p:sp>
      <p:pic>
        <p:nvPicPr>
          <p:cNvPr id="6" name="week.png" descr="Tunneittaiset matkat 9.–15.6.2025, kaksi ennustetta ja sade">    </p:cNvPr>
          <p:cNvPicPr>
            <a:picLocks noChangeAspect="1"/>
          </p:cNvPicPr>
          <p:nvPr/>
        </p:nvPicPr>
        <p:blipFill>
          <a:blip r:embed="rId1"/>
          <a:stretch>
            <a:fillRect/>
          </a:stretch>
        </p:blipFill>
        <p:spPr>
          <a:xfrm>
            <a:off x="548640" y="1508760"/>
            <a:ext cx="11064240" cy="3457840"/>
          </a:xfrm>
          <a:prstGeom prst="rect">
            <a:avLst/>
          </a:prstGeom>
        </p:spPr>
      </p:pic>
      <p:sp>
        <p:nvSpPr>
          <p:cNvPr id="7" name="week note 1"/>
          <p:cNvSpPr txBox="1"/>
          <p:nvPr/>
        </p:nvSpPr>
        <p:spPr>
          <a:xfrm>
            <a:off x="548640" y="5257800"/>
            <a:ext cx="3474720" cy="1005840"/>
          </a:xfrm>
          <a:prstGeom prst="rect">
            <a:avLst/>
          </a:prstGeom>
          <a:noFill/>
          <a:ln/>
        </p:spPr>
        <p:txBody>
          <a:bodyPr wrap="square" lIns="0" tIns="0" rIns="0" bIns="0" rtlCol="0" anchor="t"/>
          <a:lstStyle/>
          <a:p>
            <a:pPr indent="0" marL="0">
              <a:buNone/>
            </a:pPr>
            <a:r>
              <a:rPr lang="en-US" sz="1600" b="1" dirty="0">
                <a:solidFill>
                  <a:schemeClr val="tx1"/>
                </a:solidFill>
              </a:rPr>
              <a:t>Sateiset iltapäivät 9.–12.6.</a:t>
            </a:r>
            <a:endParaRPr lang="en-US" sz="1600" dirty="0"/>
          </a:p>
          <a:p>
            <a:pPr indent="0" marL="0">
              <a:buNone/>
            </a:pPr>
            <a:r>
              <a:rPr lang="en-US" sz="1400" dirty="0">
                <a:solidFill>
                  <a:schemeClr val="tx2"/>
                </a:solidFill>
              </a:rPr>
              <a:t>Kalenterimalli odottaa tavallista päivää. Säämalli seuraa suurinta osaa pudotuksesta.</a:t>
            </a:r>
            <a:endParaRPr lang="en-US" sz="1600" dirty="0"/>
          </a:p>
        </p:txBody>
      </p:sp>
      <p:sp>
        <p:nvSpPr>
          <p:cNvPr id="8" name="week note 2"/>
          <p:cNvSpPr txBox="1"/>
          <p:nvPr/>
        </p:nvSpPr>
        <p:spPr>
          <a:xfrm>
            <a:off x="4297680" y="5257800"/>
            <a:ext cx="3474720" cy="1005840"/>
          </a:xfrm>
          <a:prstGeom prst="rect">
            <a:avLst/>
          </a:prstGeom>
          <a:noFill/>
          <a:ln/>
        </p:spPr>
        <p:txBody>
          <a:bodyPr wrap="square" lIns="0" tIns="0" rIns="0" bIns="0" rtlCol="0" anchor="t"/>
          <a:lstStyle/>
          <a:p>
            <a:pPr indent="0" marL="0">
              <a:buNone/>
            </a:pPr>
            <a:r>
              <a:rPr lang="en-US" sz="1600" b="1" dirty="0">
                <a:solidFill>
                  <a:schemeClr val="tx1"/>
                </a:solidFill>
              </a:rPr>
              <a:t>Rankimmassa sateessa yhä liian korkea</a:t>
            </a:r>
            <a:endParaRPr lang="en-US" sz="1600" dirty="0"/>
          </a:p>
          <a:p>
            <a:pPr indent="0" marL="0">
              <a:buNone/>
            </a:pPr>
            <a:r>
              <a:rPr lang="en-US" sz="1400" dirty="0">
                <a:solidFill>
                  <a:schemeClr val="tx2"/>
                </a:solidFill>
              </a:rPr>
              <a:t>Yksi sääasema ei näe, missä päin kaupunkia kuuro on.</a:t>
            </a:r>
            <a:endParaRPr lang="en-US" sz="1600" dirty="0"/>
          </a:p>
        </p:txBody>
      </p:sp>
      <p:sp>
        <p:nvSpPr>
          <p:cNvPr id="9" name="week note 3"/>
          <p:cNvSpPr txBox="1"/>
          <p:nvPr/>
        </p:nvSpPr>
        <p:spPr>
          <a:xfrm>
            <a:off x="8046720" y="5257800"/>
            <a:ext cx="3474720" cy="1005840"/>
          </a:xfrm>
          <a:prstGeom prst="rect">
            <a:avLst/>
          </a:prstGeom>
          <a:noFill/>
          <a:ln/>
        </p:spPr>
        <p:txBody>
          <a:bodyPr wrap="square" lIns="0" tIns="0" rIns="0" bIns="0" rtlCol="0" anchor="t"/>
          <a:lstStyle/>
          <a:p>
            <a:pPr indent="0" marL="0">
              <a:buNone/>
            </a:pPr>
            <a:r>
              <a:rPr lang="en-US" sz="1600" b="1" dirty="0">
                <a:solidFill>
                  <a:schemeClr val="tx1"/>
                </a:solidFill>
              </a:rPr>
              <a:t>Kuiva viikonloppu 13.–15.6.</a:t>
            </a:r>
            <a:endParaRPr lang="en-US" sz="1600" dirty="0"/>
          </a:p>
          <a:p>
            <a:pPr indent="0" marL="0">
              <a:buNone/>
            </a:pPr>
            <a:r>
              <a:rPr lang="en-US" sz="1400" dirty="0">
                <a:solidFill>
                  <a:schemeClr val="tx2"/>
                </a:solidFill>
              </a:rPr>
              <a:t>Ennusteet ovat lähes samat, kuten pitääkin.</a:t>
            </a:r>
            <a:endParaRPr lang="en-US" sz="1600" dirty="0"/>
          </a:p>
        </p:txBody>
      </p:sp>
      <p:sp>
        <p:nvSpPr>
          <p:cNvPr id="25" name="Slide Number Placeholder 0"/>
          <p:cNvSpPr>
            <a:spLocks noGrp="1"/>
          </p:cNvSpPr>
          <p:nvPr>
            <p:ph type="sldNum" sz="quarter" idx="4294967295"/>
          </p:nvPr>
        </p:nvSpPr>
        <p:spPr>
          <a:xfrm>
            <a:off x="11292840" y="6419088"/>
            <a:ext cx="36576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lIns="0" tIns="0" rIns="0" bIns="0" rtlCol="0"/>
          <a:lstStyle/>
          <a:p>
            <a:pPr indent="0" marL="0">
              <a:buNone/>
            </a:pPr>
            <a:r>
              <a:rPr lang="en-US" sz="1200" b="1" spc="100" kern="0" dirty="0">
                <a:solidFill>
                  <a:schemeClr val="accent2"/>
                </a:solidFill>
              </a:rPr>
              <a:t>5 · ARVIOINTI · TK3</a:t>
            </a:r>
            <a:endParaRPr lang="en-US" sz="1200" dirty="0"/>
          </a:p>
        </p:txBody>
      </p:sp>
      <p:sp>
        <p:nvSpPr>
          <p:cNvPr id="3" name="Text 0"/>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000" b="1" dirty="0">
                <a:solidFill>
                  <a:schemeClr val="tx1"/>
                </a:solidFill>
              </a:rPr>
              <a:t>Sade vähentää matkoja saman verran kaikkialla, myös työmatkoilla</a:t>
            </a:r>
            <a:endParaRPr lang="en-US" sz="3000" dirty="0"/>
          </a:p>
        </p:txBody>
      </p:sp>
      <p:sp>
        <p:nvSpPr>
          <p:cNvPr id="4" name="speaker dot"/>
          <p:cNvSpPr/>
          <p:nvPr/>
        </p:nvSpPr>
        <p:spPr>
          <a:xfrm>
            <a:off x="8796528" y="6437376"/>
            <a:ext cx="155448" cy="155448"/>
          </a:xfrm>
          <a:prstGeom prst="ellipse">
            <a:avLst/>
          </a:prstGeom>
          <a:solidFill>
            <a:schemeClr val="accent1"/>
          </a:solidFill>
          <a:ln w="12700">
            <a:solidFill>
              <a:schemeClr val="accent1"/>
            </a:solidFill>
            <a:prstDash val="solid"/>
          </a:ln>
        </p:spPr>
      </p:sp>
      <p:sp>
        <p:nvSpPr>
          <p:cNvPr id="5" name="Text 1"/>
          <p:cNvSpPr/>
          <p:nvPr>
            <p:ph idx="103" type="body" hasCustomPrompt="1"/>
          </p:nvPr>
        </p:nvSpPr>
        <p:spPr>
          <a:xfrm>
            <a:off x="9034272" y="6419088"/>
            <a:ext cx="2194560" cy="256032"/>
          </a:xfrm>
          <a:prstGeom prst="rect">
            <a:avLst/>
          </a:prstGeom>
          <a:noFill/>
          <a:ln/>
        </p:spPr>
        <p:txBody>
          <a:bodyPr wrap="square" lIns="0" tIns="0" rIns="0" bIns="0" rtlCol="0"/>
          <a:lstStyle/>
          <a:p>
            <a:pPr indent="0" marL="0">
              <a:buNone/>
            </a:pPr>
            <a:r>
              <a:rPr lang="en-US" sz="1000" b="1" dirty="0">
                <a:solidFill>
                  <a:schemeClr val="tx2"/>
                </a:solidFill>
              </a:rPr>
              <a:t>Esittäjä: Miska</a:t>
            </a:r>
            <a:endParaRPr lang="en-US" sz="1000" dirty="0"/>
          </a:p>
        </p:txBody>
      </p:sp>
      <p:pic>
        <p:nvPicPr>
          <p:cNvPr id="6" name="rain.png" descr="Sateen vaikutus 95 %:n luottamusväleineen asemarooleittain ja viikonajoittain">    </p:cNvPr>
          <p:cNvPicPr>
            <a:picLocks noChangeAspect="1"/>
          </p:cNvPicPr>
          <p:nvPr/>
        </p:nvPicPr>
        <p:blipFill>
          <a:blip r:embed="rId1"/>
          <a:stretch>
            <a:fillRect/>
          </a:stretch>
        </p:blipFill>
        <p:spPr>
          <a:xfrm>
            <a:off x="548640" y="1463040"/>
            <a:ext cx="7223760" cy="3859932"/>
          </a:xfrm>
          <a:prstGeom prst="rect">
            <a:avLst/>
          </a:prstGeom>
        </p:spPr>
      </p:pic>
      <p:sp>
        <p:nvSpPr>
          <p:cNvPr id="7" name="hypothesis box"/>
          <p:cNvSpPr/>
          <p:nvPr/>
        </p:nvSpPr>
        <p:spPr>
          <a:xfrm>
            <a:off x="8092440" y="1463040"/>
            <a:ext cx="3520440" cy="1280160"/>
          </a:xfrm>
          <a:prstGeom prst="roundRect">
            <a:avLst>
              <a:gd name="adj" fmla="val 5714"/>
            </a:avLst>
          </a:prstGeom>
          <a:solidFill>
            <a:schemeClr val="bg2"/>
          </a:solidFill>
          <a:ln w="12700">
            <a:solidFill>
              <a:schemeClr val="bg2"/>
            </a:solidFill>
            <a:prstDash val="solid"/>
          </a:ln>
        </p:spPr>
      </p:sp>
      <p:sp>
        <p:nvSpPr>
          <p:cNvPr id="8" name="hypothesis text"/>
          <p:cNvSpPr txBox="1"/>
          <p:nvPr/>
        </p:nvSpPr>
        <p:spPr>
          <a:xfrm>
            <a:off x="8275320" y="1508760"/>
            <a:ext cx="3200400" cy="1188720"/>
          </a:xfrm>
          <a:prstGeom prst="rect">
            <a:avLst/>
          </a:prstGeom>
          <a:noFill/>
          <a:ln/>
        </p:spPr>
        <p:txBody>
          <a:bodyPr wrap="square" lIns="0" tIns="0" rIns="0" bIns="0" rtlCol="0" anchor="ctr"/>
          <a:lstStyle/>
          <a:p>
            <a:pPr indent="0" marL="0">
              <a:buNone/>
            </a:pPr>
            <a:r>
              <a:rPr lang="en-US" sz="1500" b="1" dirty="0">
                <a:solidFill>
                  <a:schemeClr val="tx1"/>
                </a:solidFill>
              </a:rPr>
              <a:t>Hypoteesi: </a:t>
            </a:r>
            <a:pPr indent="0" marL="0">
              <a:buNone/>
            </a:pPr>
            <a:r>
              <a:rPr lang="en-US" sz="1500" dirty="0">
                <a:solidFill>
                  <a:schemeClr val="tx1"/>
                </a:solidFill>
              </a:rPr>
              <a:t>työmatkalaiset pyöräilevät sateessakin, vapaa-ajan pyöräilijät jäävät kotiin.</a:t>
            </a:r>
            <a:pPr indent="0" marL="0">
              <a:buNone/>
            </a:pPr>
            <a:r>
              <a:rPr lang="en-US" sz="1500" b="1" dirty="0">
                <a:solidFill>
                  <a:schemeClr val="accent3"/>
                </a:solidFill>
              </a:rPr>
              <a:t> Hylätty.</a:t>
            </a:r>
            <a:endParaRPr lang="en-US" sz="1500" dirty="0"/>
          </a:p>
        </p:txBody>
      </p:sp>
      <p:sp>
        <p:nvSpPr>
          <p:cNvPr id="9" name="rq3 point 1"/>
          <p:cNvSpPr txBox="1"/>
          <p:nvPr/>
        </p:nvSpPr>
        <p:spPr>
          <a:xfrm>
            <a:off x="8092440" y="2971800"/>
            <a:ext cx="3520440" cy="1051560"/>
          </a:xfrm>
          <a:prstGeom prst="rect">
            <a:avLst/>
          </a:prstGeom>
          <a:noFill/>
          <a:ln/>
        </p:spPr>
        <p:txBody>
          <a:bodyPr wrap="square" lIns="0" tIns="0" rIns="0" bIns="0" rtlCol="0" anchor="t"/>
          <a:lstStyle/>
          <a:p>
            <a:pPr indent="0" marL="0">
              <a:buNone/>
            </a:pPr>
            <a:r>
              <a:rPr lang="en-US" sz="1800" b="1" dirty="0">
                <a:solidFill>
                  <a:schemeClr val="tx1"/>
                </a:solidFill>
              </a:rPr>
              <a:t>−29 % / −49 %</a:t>
            </a:r>
            <a:endParaRPr lang="en-US" sz="1800" dirty="0"/>
          </a:p>
          <a:p>
            <a:pPr indent="0" marL="0">
              <a:buNone/>
            </a:pPr>
            <a:r>
              <a:rPr lang="en-US" sz="1400" dirty="0">
                <a:solidFill>
                  <a:schemeClr val="tx2"/>
                </a:solidFill>
              </a:rPr>
              <a:t>heikko / runsas sade, kun kalenteri ja lämpötila vakioidaan</a:t>
            </a:r>
            <a:endParaRPr lang="en-US" sz="1800" dirty="0"/>
          </a:p>
        </p:txBody>
      </p:sp>
      <p:sp>
        <p:nvSpPr>
          <p:cNvPr id="10" name="rq3 point 2"/>
          <p:cNvSpPr txBox="1"/>
          <p:nvPr/>
        </p:nvSpPr>
        <p:spPr>
          <a:xfrm>
            <a:off x="8092440" y="4087368"/>
            <a:ext cx="3520440" cy="1051560"/>
          </a:xfrm>
          <a:prstGeom prst="rect">
            <a:avLst/>
          </a:prstGeom>
          <a:noFill/>
          <a:ln/>
        </p:spPr>
        <p:txBody>
          <a:bodyPr wrap="square" lIns="0" tIns="0" rIns="0" bIns="0" rtlCol="0" anchor="t"/>
          <a:lstStyle/>
          <a:p>
            <a:pPr indent="0" marL="0">
              <a:buNone/>
            </a:pPr>
            <a:r>
              <a:rPr lang="en-US" sz="1800" b="1" dirty="0">
                <a:solidFill>
                  <a:schemeClr val="tx1"/>
                </a:solidFill>
              </a:rPr>
              <a:t>Sama kaikille rooleille</a:t>
            </a:r>
            <a:endParaRPr lang="en-US" sz="1800" dirty="0"/>
          </a:p>
          <a:p>
            <a:pPr indent="0" marL="0">
              <a:buNone/>
            </a:pPr>
            <a:r>
              <a:rPr lang="en-US" sz="1400" dirty="0">
                <a:solidFill>
                  <a:schemeClr val="tx2"/>
                </a:solidFill>
              </a:rPr>
              <a:t>Kaikki viisi roolia ovat muutaman prosenttiyksikön sisällä, ja luottamusvälit menevät päällekkäin</a:t>
            </a:r>
            <a:endParaRPr lang="en-US" sz="1800" dirty="0"/>
          </a:p>
        </p:txBody>
      </p:sp>
      <p:sp>
        <p:nvSpPr>
          <p:cNvPr id="11" name="rq3 point 3"/>
          <p:cNvSpPr txBox="1"/>
          <p:nvPr/>
        </p:nvSpPr>
        <p:spPr>
          <a:xfrm>
            <a:off x="8092440" y="5202936"/>
            <a:ext cx="3520440" cy="1051560"/>
          </a:xfrm>
          <a:prstGeom prst="rect">
            <a:avLst/>
          </a:prstGeom>
          <a:noFill/>
          <a:ln/>
        </p:spPr>
        <p:txBody>
          <a:bodyPr wrap="square" lIns="0" tIns="0" rIns="0" bIns="0" rtlCol="0" anchor="t"/>
          <a:lstStyle/>
          <a:p>
            <a:pPr indent="0" marL="0">
              <a:buNone/>
            </a:pPr>
            <a:r>
              <a:rPr lang="en-US" sz="1800" b="1" dirty="0">
                <a:solidFill>
                  <a:schemeClr val="tx1"/>
                </a:solidFill>
              </a:rPr>
              <a:t>Todennäköinen syy</a:t>
            </a:r>
            <a:endParaRPr lang="en-US" sz="1800" dirty="0"/>
          </a:p>
          <a:p>
            <a:pPr indent="0" marL="0">
              <a:buNone/>
            </a:pPr>
            <a:r>
              <a:rPr lang="en-US" sz="1400" dirty="0">
                <a:solidFill>
                  <a:schemeClr val="tx2"/>
                </a:solidFill>
              </a:rPr>
              <a:t>Työmatkalaisilla on kuiva vaihtoehto: raitiovaunu, metro ja bussi</a:t>
            </a:r>
            <a:endParaRPr lang="en-US" sz="1800" dirty="0"/>
          </a:p>
        </p:txBody>
      </p:sp>
      <p:sp>
        <p:nvSpPr>
          <p:cNvPr id="25" name="Slide Number Placeholder 0"/>
          <p:cNvSpPr>
            <a:spLocks noGrp="1"/>
          </p:cNvSpPr>
          <p:nvPr>
            <p:ph type="sldNum" sz="quarter" idx="4294967295"/>
          </p:nvPr>
        </p:nvSpPr>
        <p:spPr>
          <a:xfrm>
            <a:off x="11292840" y="6419088"/>
            <a:ext cx="36576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lIns="0" tIns="0" rIns="0" bIns="0" rtlCol="0"/>
          <a:lstStyle/>
          <a:p>
            <a:pPr indent="0" marL="0">
              <a:buNone/>
            </a:pPr>
            <a:r>
              <a:rPr lang="en-US" sz="1200" b="1" spc="100" kern="0" dirty="0">
                <a:solidFill>
                  <a:schemeClr val="accent2"/>
                </a:solidFill>
              </a:rPr>
              <a:t>6 · KÄYTTÖÖNOTTO</a:t>
            </a:r>
            <a:endParaRPr lang="en-US" sz="1200" dirty="0"/>
          </a:p>
        </p:txBody>
      </p:sp>
      <p:sp>
        <p:nvSpPr>
          <p:cNvPr id="3" name="Text 0"/>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000" b="1" dirty="0">
                <a:solidFill>
                  <a:schemeClr val="tx1"/>
                </a:solidFill>
              </a:rPr>
              <a:t>Kolme tapaa hyödyntää tuloksia</a:t>
            </a:r>
            <a:endParaRPr lang="en-US" sz="3000" dirty="0"/>
          </a:p>
        </p:txBody>
      </p:sp>
      <p:sp>
        <p:nvSpPr>
          <p:cNvPr id="4" name="speaker dot"/>
          <p:cNvSpPr/>
          <p:nvPr/>
        </p:nvSpPr>
        <p:spPr>
          <a:xfrm>
            <a:off x="8796528" y="6437376"/>
            <a:ext cx="155448" cy="155448"/>
          </a:xfrm>
          <a:prstGeom prst="ellipse">
            <a:avLst/>
          </a:prstGeom>
          <a:solidFill>
            <a:schemeClr val="accent1"/>
          </a:solidFill>
          <a:ln w="12700">
            <a:solidFill>
              <a:schemeClr val="accent1"/>
            </a:solidFill>
            <a:prstDash val="solid"/>
          </a:ln>
        </p:spPr>
      </p:sp>
      <p:sp>
        <p:nvSpPr>
          <p:cNvPr id="5" name="Text 1"/>
          <p:cNvSpPr/>
          <p:nvPr>
            <p:ph idx="103" type="body" hasCustomPrompt="1"/>
          </p:nvPr>
        </p:nvSpPr>
        <p:spPr>
          <a:xfrm>
            <a:off x="9034272" y="6419088"/>
            <a:ext cx="2194560" cy="256032"/>
          </a:xfrm>
          <a:prstGeom prst="rect">
            <a:avLst/>
          </a:prstGeom>
          <a:noFill/>
          <a:ln/>
        </p:spPr>
        <p:txBody>
          <a:bodyPr wrap="square" lIns="0" tIns="0" rIns="0" bIns="0" rtlCol="0"/>
          <a:lstStyle/>
          <a:p>
            <a:pPr indent="0" marL="0">
              <a:buNone/>
            </a:pPr>
            <a:r>
              <a:rPr lang="en-US" sz="1000" b="1" dirty="0">
                <a:solidFill>
                  <a:schemeClr val="tx2"/>
                </a:solidFill>
              </a:rPr>
              <a:t>Esittäjä: Miska</a:t>
            </a:r>
            <a:endParaRPr lang="en-US" sz="1000" dirty="0"/>
          </a:p>
        </p:txBody>
      </p:sp>
      <p:graphicFrame>
        <p:nvGraphicFramePr>
          <p:cNvPr id="6" name="Chart 0" descr=""/>
          <p:cNvGraphicFramePr/>
          <p:nvPr/>
        </p:nvGraphicFramePr>
        <p:xfrm>
          <a:off x="548640" y="1463040"/>
          <a:ext cx="5120640" cy="4754880"/>
        </p:xfrm>
        <a:graphic xmlns:a="http://schemas.openxmlformats.org/drawingml/2006/main">
          <a:graphicData uri="http://schemas.openxmlformats.org/drawingml/2006/chart">
            <c:chart xmlns:c="http://schemas.openxmlformats.org/drawingml/2006/chart" r:id="rId1"/>
          </a:graphicData>
        </a:graphic>
      </p:graphicFrame>
      <p:sp>
        <p:nvSpPr>
          <p:cNvPr id="7" name="dot 1"/>
          <p:cNvSpPr/>
          <p:nvPr/>
        </p:nvSpPr>
        <p:spPr>
          <a:xfrm>
            <a:off x="6126480" y="1508760"/>
            <a:ext cx="420624" cy="420624"/>
          </a:xfrm>
          <a:prstGeom prst="ellipse">
            <a:avLst/>
          </a:prstGeom>
          <a:solidFill>
            <a:schemeClr val="accent1"/>
          </a:solidFill>
          <a:ln w="12700">
            <a:solidFill>
              <a:schemeClr val="accent1"/>
            </a:solidFill>
            <a:prstDash val="solid"/>
          </a:ln>
        </p:spPr>
      </p:sp>
      <p:sp>
        <p:nvSpPr>
          <p:cNvPr id="8" name="dot label 1"/>
          <p:cNvSpPr txBox="1"/>
          <p:nvPr/>
        </p:nvSpPr>
        <p:spPr>
          <a:xfrm>
            <a:off x="6126480" y="1508760"/>
            <a:ext cx="420624" cy="420624"/>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9" name="action 1"/>
          <p:cNvSpPr txBox="1"/>
          <p:nvPr/>
        </p:nvSpPr>
        <p:spPr>
          <a:xfrm>
            <a:off x="6720840" y="1472184"/>
            <a:ext cx="4892040" cy="1463040"/>
          </a:xfrm>
          <a:prstGeom prst="rect">
            <a:avLst/>
          </a:prstGeom>
          <a:noFill/>
          <a:ln/>
        </p:spPr>
        <p:txBody>
          <a:bodyPr wrap="square" lIns="0" tIns="0" rIns="0" bIns="0" rtlCol="0" anchor="t"/>
          <a:lstStyle/>
          <a:p>
            <a:pPr indent="0" marL="0">
              <a:spcAft>
                <a:spcPts val="400"/>
              </a:spcAft>
              <a:buNone/>
            </a:pPr>
            <a:r>
              <a:rPr lang="en-US" sz="1800" b="1" dirty="0">
                <a:solidFill>
                  <a:schemeClr val="tx1"/>
                </a:solidFill>
              </a:rPr>
              <a:t>Tasapainota roolin mukaan</a:t>
            </a:r>
            <a:endParaRPr lang="en-US" sz="1800" dirty="0"/>
          </a:p>
          <a:p>
            <a:pPr indent="0" marL="0">
              <a:spcAft>
                <a:spcPts val="400"/>
              </a:spcAft>
              <a:buNone/>
            </a:pPr>
            <a:r>
              <a:rPr lang="en-US" sz="1500" dirty="0">
                <a:solidFill>
                  <a:schemeClr val="tx2"/>
                </a:solidFill>
              </a:rPr>
              <a:t>Ennen klo 7 vie pyöriä aamun lähtöasemille ja vapauta telinepaikkoja 44 aamun määränpäässä. Noin klo 15 päinvastoin.</a:t>
            </a:r>
            <a:endParaRPr lang="en-US" sz="1800" dirty="0"/>
          </a:p>
        </p:txBody>
      </p:sp>
      <p:sp>
        <p:nvSpPr>
          <p:cNvPr id="10" name="dot 2"/>
          <p:cNvSpPr/>
          <p:nvPr/>
        </p:nvSpPr>
        <p:spPr>
          <a:xfrm>
            <a:off x="6126480" y="3108960"/>
            <a:ext cx="420624" cy="420624"/>
          </a:xfrm>
          <a:prstGeom prst="ellipse">
            <a:avLst/>
          </a:prstGeom>
          <a:solidFill>
            <a:schemeClr val="accent1"/>
          </a:solidFill>
          <a:ln w="12700">
            <a:solidFill>
              <a:schemeClr val="accent1"/>
            </a:solidFill>
            <a:prstDash val="solid"/>
          </a:ln>
        </p:spPr>
      </p:sp>
      <p:sp>
        <p:nvSpPr>
          <p:cNvPr id="11" name="dot label 2"/>
          <p:cNvSpPr txBox="1"/>
          <p:nvPr/>
        </p:nvSpPr>
        <p:spPr>
          <a:xfrm>
            <a:off x="6126480" y="3108960"/>
            <a:ext cx="420624" cy="420624"/>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12" name="action 2"/>
          <p:cNvSpPr txBox="1"/>
          <p:nvPr/>
        </p:nvSpPr>
        <p:spPr>
          <a:xfrm>
            <a:off x="6720840" y="3072384"/>
            <a:ext cx="4892040" cy="1463040"/>
          </a:xfrm>
          <a:prstGeom prst="rect">
            <a:avLst/>
          </a:prstGeom>
          <a:noFill/>
          <a:ln/>
        </p:spPr>
        <p:txBody>
          <a:bodyPr wrap="square" lIns="0" tIns="0" rIns="0" bIns="0" rtlCol="0" anchor="t"/>
          <a:lstStyle/>
          <a:p>
            <a:pPr indent="0" marL="0">
              <a:spcAft>
                <a:spcPts val="400"/>
              </a:spcAft>
              <a:buNone/>
            </a:pPr>
            <a:r>
              <a:rPr lang="en-US" sz="1800" b="1" dirty="0">
                <a:solidFill>
                  <a:schemeClr val="tx1"/>
                </a:solidFill>
              </a:rPr>
              <a:t>Suunnittele päivä sääennusteen avulla</a:t>
            </a:r>
            <a:endParaRPr lang="en-US" sz="1800" dirty="0"/>
          </a:p>
          <a:p>
            <a:pPr indent="0" marL="0">
              <a:spcAft>
                <a:spcPts val="400"/>
              </a:spcAft>
              <a:buNone/>
            </a:pPr>
            <a:r>
              <a:rPr lang="en-US" sz="1500" dirty="0">
                <a:solidFill>
                  <a:schemeClr val="tx2"/>
                </a:solidFill>
              </a:rPr>
              <a:t>Syötä huomisen sääennuste malliin. Sadepäivinä työntekijöitä vapautuu huoltotöihin. Yksi sadekerroin sopii kaikille asemille.</a:t>
            </a:r>
            <a:endParaRPr lang="en-US" sz="1800" dirty="0"/>
          </a:p>
        </p:txBody>
      </p:sp>
      <p:sp>
        <p:nvSpPr>
          <p:cNvPr id="13" name="dot 3"/>
          <p:cNvSpPr/>
          <p:nvPr/>
        </p:nvSpPr>
        <p:spPr>
          <a:xfrm>
            <a:off x="6126480" y="4709160"/>
            <a:ext cx="420624" cy="420624"/>
          </a:xfrm>
          <a:prstGeom prst="ellipse">
            <a:avLst/>
          </a:prstGeom>
          <a:solidFill>
            <a:schemeClr val="accent1"/>
          </a:solidFill>
          <a:ln w="12700">
            <a:solidFill>
              <a:schemeClr val="accent1"/>
            </a:solidFill>
            <a:prstDash val="solid"/>
          </a:ln>
        </p:spPr>
      </p:sp>
      <p:sp>
        <p:nvSpPr>
          <p:cNvPr id="14" name="dot label 3"/>
          <p:cNvSpPr txBox="1"/>
          <p:nvPr/>
        </p:nvSpPr>
        <p:spPr>
          <a:xfrm>
            <a:off x="6126480" y="4709160"/>
            <a:ext cx="420624" cy="420624"/>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5" name="action 3"/>
          <p:cNvSpPr txBox="1"/>
          <p:nvPr/>
        </p:nvSpPr>
        <p:spPr>
          <a:xfrm>
            <a:off x="6720840" y="4672584"/>
            <a:ext cx="4892040" cy="1463040"/>
          </a:xfrm>
          <a:prstGeom prst="rect">
            <a:avLst/>
          </a:prstGeom>
          <a:noFill/>
          <a:ln/>
        </p:spPr>
        <p:txBody>
          <a:bodyPr wrap="square" lIns="0" tIns="0" rIns="0" bIns="0" rtlCol="0" anchor="t"/>
          <a:lstStyle/>
          <a:p>
            <a:pPr indent="0" marL="0">
              <a:spcAft>
                <a:spcPts val="400"/>
              </a:spcAft>
              <a:buNone/>
            </a:pPr>
            <a:r>
              <a:rPr lang="en-US" sz="1800" b="1" dirty="0">
                <a:solidFill>
                  <a:schemeClr val="tx1"/>
                </a:solidFill>
              </a:rPr>
              <a:t>Seuraa ja opeta uudelleen</a:t>
            </a:r>
            <a:endParaRPr lang="en-US" sz="1800" dirty="0"/>
          </a:p>
          <a:p>
            <a:pPr indent="0" marL="0">
              <a:spcAft>
                <a:spcPts val="400"/>
              </a:spcAft>
              <a:buNone/>
            </a:pPr>
            <a:r>
              <a:rPr lang="en-US" sz="1500" dirty="0">
                <a:solidFill>
                  <a:schemeClr val="tx2"/>
                </a:solidFill>
              </a:rPr>
              <a:t>Tarkista virhe viikoittain (hälytys, jos yli noin 80 matkaa/h), opeta malli uudelleen joka kevät ja päivitä roolit, kun asemat muuttuvat.</a:t>
            </a:r>
            <a:endParaRPr lang="en-US" sz="1800" dirty="0"/>
          </a:p>
        </p:txBody>
      </p:sp>
      <p:sp>
        <p:nvSpPr>
          <p:cNvPr id="25" name="Slide Number Placeholder 0"/>
          <p:cNvSpPr>
            <a:spLocks noGrp="1"/>
          </p:cNvSpPr>
          <p:nvPr>
            <p:ph type="sldNum" sz="quarter" idx="4294967295"/>
          </p:nvPr>
        </p:nvSpPr>
        <p:spPr>
          <a:xfrm>
            <a:off x="11292840" y="6419088"/>
            <a:ext cx="36576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lIns="0" tIns="0" rIns="0" bIns="0" rtlCol="0"/>
          <a:lstStyle/>
          <a:p>
            <a:pPr indent="0" marL="0">
              <a:buNone/>
            </a:pPr>
            <a:r>
              <a:rPr lang="en-US" sz="1200" b="1" spc="100" kern="0" dirty="0">
                <a:solidFill>
                  <a:schemeClr val="accent1"/>
                </a:solidFill>
              </a:rPr>
              <a:t>JOHTOPÄÄTÖKSET</a:t>
            </a:r>
            <a:endParaRPr lang="en-US" sz="1200" dirty="0"/>
          </a:p>
        </p:txBody>
      </p:sp>
      <p:sp>
        <p:nvSpPr>
          <p:cNvPr id="3" name="Text 0"/>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000" b="1" dirty="0">
                <a:solidFill>
                  <a:schemeClr val="bg1"/>
                </a:solidFill>
              </a:rPr>
              <a:t>Mitä saimme selville</a:t>
            </a:r>
            <a:endParaRPr lang="en-US" sz="3000" dirty="0"/>
          </a:p>
        </p:txBody>
      </p:sp>
      <p:sp>
        <p:nvSpPr>
          <p:cNvPr id="4" name="speaker dot"/>
          <p:cNvSpPr/>
          <p:nvPr/>
        </p:nvSpPr>
        <p:spPr>
          <a:xfrm>
            <a:off x="8796528" y="6437376"/>
            <a:ext cx="155448" cy="155448"/>
          </a:xfrm>
          <a:prstGeom prst="ellipse">
            <a:avLst/>
          </a:prstGeom>
          <a:solidFill>
            <a:schemeClr val="accent1"/>
          </a:solidFill>
          <a:ln w="12700">
            <a:solidFill>
              <a:schemeClr val="accent1"/>
            </a:solidFill>
            <a:prstDash val="solid"/>
          </a:ln>
        </p:spPr>
      </p:sp>
      <p:sp>
        <p:nvSpPr>
          <p:cNvPr id="5" name="Text 0"/>
          <p:cNvSpPr/>
          <p:nvPr>
            <p:ph idx="102" type="body" hasCustomPrompt="1"/>
          </p:nvPr>
        </p:nvSpPr>
        <p:spPr>
          <a:xfrm>
            <a:off x="9034272" y="6419088"/>
            <a:ext cx="2194560" cy="256032"/>
          </a:xfrm>
          <a:prstGeom prst="rect">
            <a:avLst/>
          </a:prstGeom>
          <a:noFill/>
          <a:ln/>
        </p:spPr>
        <p:txBody>
          <a:bodyPr wrap="square" lIns="0" tIns="0" rIns="0" bIns="0" rtlCol="0"/>
          <a:lstStyle/>
          <a:p>
            <a:pPr indent="0" marL="0">
              <a:buNone/>
            </a:pPr>
            <a:r>
              <a:rPr lang="en-US" sz="1000" b="1" dirty="0">
                <a:solidFill>
                  <a:schemeClr val="bg2"/>
                </a:solidFill>
              </a:rPr>
              <a:t>Esittäjä: Miska</a:t>
            </a:r>
            <a:endParaRPr lang="en-US" sz="1000" dirty="0"/>
          </a:p>
        </p:txBody>
      </p:sp>
      <p:sp>
        <p:nvSpPr>
          <p:cNvPr id="6" name="dot 1"/>
          <p:cNvSpPr/>
          <p:nvPr/>
        </p:nvSpPr>
        <p:spPr>
          <a:xfrm>
            <a:off x="548640" y="1600200"/>
            <a:ext cx="475488" cy="475488"/>
          </a:xfrm>
          <a:prstGeom prst="ellipse">
            <a:avLst/>
          </a:prstGeom>
          <a:solidFill>
            <a:schemeClr val="accent1"/>
          </a:solidFill>
          <a:ln w="12700">
            <a:solidFill>
              <a:schemeClr val="accent1"/>
            </a:solidFill>
            <a:prstDash val="solid"/>
          </a:ln>
        </p:spPr>
      </p:sp>
      <p:sp>
        <p:nvSpPr>
          <p:cNvPr id="7" name="dot label 1"/>
          <p:cNvSpPr txBox="1"/>
          <p:nvPr/>
        </p:nvSpPr>
        <p:spPr>
          <a:xfrm>
            <a:off x="548640" y="1600200"/>
            <a:ext cx="475488" cy="475488"/>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8" name="answer 1"/>
          <p:cNvSpPr txBox="1"/>
          <p:nvPr/>
        </p:nvSpPr>
        <p:spPr>
          <a:xfrm>
            <a:off x="1234440" y="1554480"/>
            <a:ext cx="6400800" cy="960120"/>
          </a:xfrm>
          <a:prstGeom prst="rect">
            <a:avLst/>
          </a:prstGeom>
          <a:noFill/>
          <a:ln/>
        </p:spPr>
        <p:txBody>
          <a:bodyPr wrap="square" lIns="0" tIns="0" rIns="0" bIns="0" rtlCol="0" anchor="t"/>
          <a:lstStyle/>
          <a:p>
            <a:pPr indent="0" marL="0">
              <a:buNone/>
            </a:pPr>
            <a:r>
              <a:rPr lang="en-US" sz="1900" b="1" dirty="0">
                <a:solidFill>
                  <a:schemeClr val="bg1"/>
                </a:solidFill>
              </a:rPr>
              <a:t>Viisi vakaata asemaroolia </a:t>
            </a:r>
            <a:pPr indent="0" marL="0">
              <a:buNone/>
            </a:pPr>
            <a:r>
              <a:rPr lang="en-US" sz="1900" dirty="0">
                <a:solidFill>
                  <a:schemeClr val="bg2"/>
                </a:solidFill>
              </a:rPr>
              <a:t>löytyy pelkästä käytöstä. Aamun määränpäät keskittyvät työpaikoille, kampuksille ja juna-asemille.</a:t>
            </a:r>
            <a:endParaRPr lang="en-US" sz="1900" dirty="0"/>
          </a:p>
        </p:txBody>
      </p:sp>
      <p:sp>
        <p:nvSpPr>
          <p:cNvPr id="9" name="dot 2"/>
          <p:cNvSpPr/>
          <p:nvPr/>
        </p:nvSpPr>
        <p:spPr>
          <a:xfrm>
            <a:off x="548640" y="2743200"/>
            <a:ext cx="475488" cy="475488"/>
          </a:xfrm>
          <a:prstGeom prst="ellipse">
            <a:avLst/>
          </a:prstGeom>
          <a:solidFill>
            <a:schemeClr val="accent1"/>
          </a:solidFill>
          <a:ln w="12700">
            <a:solidFill>
              <a:schemeClr val="accent1"/>
            </a:solidFill>
            <a:prstDash val="solid"/>
          </a:ln>
        </p:spPr>
      </p:sp>
      <p:sp>
        <p:nvSpPr>
          <p:cNvPr id="10" name="dot label 2"/>
          <p:cNvSpPr txBox="1"/>
          <p:nvPr/>
        </p:nvSpPr>
        <p:spPr>
          <a:xfrm>
            <a:off x="548640" y="2743200"/>
            <a:ext cx="475488" cy="475488"/>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11" name="answer 2"/>
          <p:cNvSpPr txBox="1"/>
          <p:nvPr/>
        </p:nvSpPr>
        <p:spPr>
          <a:xfrm>
            <a:off x="1234440" y="2697480"/>
            <a:ext cx="6400800" cy="960120"/>
          </a:xfrm>
          <a:prstGeom prst="rect">
            <a:avLst/>
          </a:prstGeom>
          <a:noFill/>
          <a:ln/>
        </p:spPr>
        <p:txBody>
          <a:bodyPr wrap="square" lIns="0" tIns="0" rIns="0" bIns="0" rtlCol="0" anchor="t"/>
          <a:lstStyle/>
          <a:p>
            <a:pPr indent="0" marL="0">
              <a:buNone/>
            </a:pPr>
            <a:r>
              <a:rPr lang="en-US" sz="1900" b="1" dirty="0">
                <a:solidFill>
                  <a:schemeClr val="bg1"/>
                </a:solidFill>
              </a:rPr>
              <a:t>Sää pienentää ennustevirhettä 35 % </a:t>
            </a:r>
            <a:pPr indent="0" marL="0">
              <a:buNone/>
            </a:pPr>
            <a:r>
              <a:rPr lang="en-US" sz="1900" dirty="0">
                <a:solidFill>
                  <a:schemeClr val="bg2"/>
                </a:solidFill>
              </a:rPr>
              <a:t>uudella kaudella ja sadetunneilla 61 %.</a:t>
            </a:r>
            <a:endParaRPr lang="en-US" sz="1900" dirty="0"/>
          </a:p>
        </p:txBody>
      </p:sp>
      <p:sp>
        <p:nvSpPr>
          <p:cNvPr id="12" name="dot 3"/>
          <p:cNvSpPr/>
          <p:nvPr/>
        </p:nvSpPr>
        <p:spPr>
          <a:xfrm>
            <a:off x="548640" y="3886200"/>
            <a:ext cx="475488" cy="475488"/>
          </a:xfrm>
          <a:prstGeom prst="ellipse">
            <a:avLst/>
          </a:prstGeom>
          <a:solidFill>
            <a:schemeClr val="accent1"/>
          </a:solidFill>
          <a:ln w="12700">
            <a:solidFill>
              <a:schemeClr val="accent1"/>
            </a:solidFill>
            <a:prstDash val="solid"/>
          </a:ln>
        </p:spPr>
      </p:sp>
      <p:sp>
        <p:nvSpPr>
          <p:cNvPr id="13" name="dot label 3"/>
          <p:cNvSpPr txBox="1"/>
          <p:nvPr/>
        </p:nvSpPr>
        <p:spPr>
          <a:xfrm>
            <a:off x="548640" y="3886200"/>
            <a:ext cx="475488" cy="475488"/>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4" name="answer 3"/>
          <p:cNvSpPr txBox="1"/>
          <p:nvPr/>
        </p:nvSpPr>
        <p:spPr>
          <a:xfrm>
            <a:off x="1234440" y="3840480"/>
            <a:ext cx="6400800" cy="960120"/>
          </a:xfrm>
          <a:prstGeom prst="rect">
            <a:avLst/>
          </a:prstGeom>
          <a:noFill/>
          <a:ln/>
        </p:spPr>
        <p:txBody>
          <a:bodyPr wrap="square" lIns="0" tIns="0" rIns="0" bIns="0" rtlCol="0" anchor="t"/>
          <a:lstStyle/>
          <a:p>
            <a:pPr indent="0" marL="0">
              <a:buNone/>
            </a:pPr>
            <a:r>
              <a:rPr lang="en-US" sz="1900" b="1" dirty="0">
                <a:solidFill>
                  <a:schemeClr val="bg1"/>
                </a:solidFill>
              </a:rPr>
              <a:t>Sade vähentää pyöräilyä tasaisesti </a:t>
            </a:r>
            <a:pPr indent="0" marL="0">
              <a:buNone/>
            </a:pPr>
            <a:r>
              <a:rPr lang="en-US" sz="1900" dirty="0">
                <a:solidFill>
                  <a:schemeClr val="bg2"/>
                </a:solidFill>
              </a:rPr>
              <a:t>kaikissa asemarooleissa ja matkatyypeissä, myös työmatkoilla.</a:t>
            </a:r>
            <a:endParaRPr lang="en-US" sz="1900" dirty="0"/>
          </a:p>
        </p:txBody>
      </p:sp>
      <p:sp>
        <p:nvSpPr>
          <p:cNvPr id="15" name="limits box"/>
          <p:cNvSpPr/>
          <p:nvPr/>
        </p:nvSpPr>
        <p:spPr>
          <a:xfrm>
            <a:off x="8092440" y="1554480"/>
            <a:ext cx="3520440" cy="2743200"/>
          </a:xfrm>
          <a:prstGeom prst="roundRect">
            <a:avLst>
              <a:gd name="adj" fmla="val 2667"/>
            </a:avLst>
          </a:prstGeom>
          <a:solidFill>
            <a:srgbClr val="2E3F48"/>
          </a:solidFill>
          <a:ln w="12700">
            <a:solidFill>
              <a:srgbClr val="2E3F48"/>
            </a:solidFill>
            <a:prstDash val="solid"/>
          </a:ln>
        </p:spPr>
      </p:sp>
      <p:sp>
        <p:nvSpPr>
          <p:cNvPr id="16" name="limits text"/>
          <p:cNvSpPr txBox="1"/>
          <p:nvPr/>
        </p:nvSpPr>
        <p:spPr>
          <a:xfrm>
            <a:off x="8321040" y="1737360"/>
            <a:ext cx="3108960" cy="2423160"/>
          </a:xfrm>
          <a:prstGeom prst="rect">
            <a:avLst/>
          </a:prstGeom>
          <a:noFill/>
          <a:ln/>
        </p:spPr>
        <p:txBody>
          <a:bodyPr wrap="square" lIns="0" tIns="0" rIns="0" bIns="0" rtlCol="0" anchor="t"/>
          <a:lstStyle/>
          <a:p>
            <a:pPr indent="0" marL="0">
              <a:spcAft>
                <a:spcPts val="600"/>
              </a:spcAft>
              <a:buNone/>
            </a:pPr>
            <a:r>
              <a:rPr lang="en-US" sz="1700" b="1" dirty="0">
                <a:solidFill>
                  <a:schemeClr val="accent1"/>
                </a:solidFill>
              </a:rPr>
              <a:t>Rajoitukset</a:t>
            </a:r>
            <a:endParaRPr lang="en-US" sz="1700" dirty="0"/>
          </a:p>
          <a:p>
            <a:pPr marL="342900" indent="-342900">
              <a:spcAft>
                <a:spcPts val="600"/>
              </a:spcAft>
              <a:buSzPct val="100000"/>
              <a:buChar char="•"/>
            </a:pPr>
            <a:r>
              <a:rPr lang="en-US" sz="1400" dirty="0">
                <a:solidFill>
                  <a:schemeClr val="bg2"/>
                </a:solidFill>
              </a:rPr>
              <a:t>Data näyttää vain toteutuneen kysynnän. Tyhjä asema piilottaa menetetyt matkat.</a:t>
            </a:r>
            <a:endParaRPr lang="en-US" sz="1700" dirty="0"/>
          </a:p>
          <a:p>
            <a:pPr marL="342900" indent="-342900">
              <a:spcAft>
                <a:spcPts val="600"/>
              </a:spcAft>
              <a:buSzPct val="100000"/>
              <a:buChar char="•"/>
            </a:pPr>
            <a:r>
              <a:rPr lang="en-US" sz="1400" dirty="0">
                <a:solidFill>
                  <a:schemeClr val="bg2"/>
                </a:solidFill>
              </a:rPr>
              <a:t>Yksi sääasema kattaa koko alueen.</a:t>
            </a:r>
            <a:endParaRPr lang="en-US" sz="1700" dirty="0"/>
          </a:p>
          <a:p>
            <a:pPr marL="342900" indent="-342900">
              <a:spcAft>
                <a:spcPts val="600"/>
              </a:spcAft>
              <a:buSzPct val="100000"/>
              <a:buChar char="•"/>
            </a:pPr>
            <a:r>
              <a:rPr lang="en-US" sz="1400" dirty="0">
                <a:solidFill>
                  <a:schemeClr val="bg2"/>
                </a:solidFill>
              </a:rPr>
              <a:t>Kaksi kautta. Uusi kalusto tai hinnoittelu vaatisi uudelleenopetuksen.</a:t>
            </a:r>
            <a:endParaRPr lang="en-US" sz="1700" dirty="0"/>
          </a:p>
        </p:txBody>
      </p:sp>
      <p:sp>
        <p:nvSpPr>
          <p:cNvPr id="17" name="thanks"/>
          <p:cNvSpPr txBox="1"/>
          <p:nvPr/>
        </p:nvSpPr>
        <p:spPr>
          <a:xfrm>
            <a:off x="548640" y="5257800"/>
            <a:ext cx="7315200" cy="640080"/>
          </a:xfrm>
          <a:prstGeom prst="rect">
            <a:avLst/>
          </a:prstGeom>
          <a:noFill/>
          <a:ln/>
        </p:spPr>
        <p:txBody>
          <a:bodyPr wrap="square" lIns="0" tIns="0" rIns="0" bIns="0" rtlCol="0" anchor="ctr"/>
          <a:lstStyle/>
          <a:p>
            <a:pPr indent="0" marL="0">
              <a:buNone/>
            </a:pPr>
            <a:r>
              <a:rPr lang="en-US" sz="3000" b="1" dirty="0">
                <a:solidFill>
                  <a:schemeClr val="accent1"/>
                </a:solidFill>
              </a:rPr>
              <a:t>Kiitos! Kysymyksiä?</a:t>
            </a:r>
            <a:endParaRPr lang="en-US" sz="3000" dirty="0"/>
          </a:p>
        </p:txBody>
      </p:sp>
      <p:sp>
        <p:nvSpPr>
          <p:cNvPr id="18" name="repo note"/>
          <p:cNvSpPr txBox="1"/>
          <p:nvPr/>
        </p:nvSpPr>
        <p:spPr>
          <a:xfrm>
            <a:off x="548640" y="5897880"/>
            <a:ext cx="7315200" cy="320040"/>
          </a:xfrm>
          <a:prstGeom prst="rect">
            <a:avLst/>
          </a:prstGeom>
          <a:noFill/>
          <a:ln/>
        </p:spPr>
        <p:txBody>
          <a:bodyPr wrap="square" lIns="0" tIns="0" rIns="0" bIns="0" rtlCol="0" anchor="ctr"/>
          <a:lstStyle/>
          <a:p>
            <a:pPr indent="0" marL="0">
              <a:buNone/>
            </a:pPr>
            <a:r>
              <a:rPr lang="en-US" sz="1300" dirty="0">
                <a:solidFill>
                  <a:schemeClr val="accent6"/>
                </a:solidFill>
              </a:rPr>
              <a:t>Notebook, koodi ja aineistolähteet: citybike_analysis.ipynb</a:t>
            </a:r>
            <a:endParaRPr lang="en-US" sz="1300" dirty="0"/>
          </a:p>
        </p:txBody>
      </p:sp>
      <p:sp>
        <p:nvSpPr>
          <p:cNvPr id="25" name="Slide Number Placeholder 0"/>
          <p:cNvSpPr>
            <a:spLocks noGrp="1"/>
          </p:cNvSpPr>
          <p:nvPr>
            <p:ph type="sldNum" sz="quarter" idx="4294967295"/>
          </p:nvPr>
        </p:nvSpPr>
        <p:spPr>
          <a:xfrm>
            <a:off x="11292840" y="6419088"/>
            <a:ext cx="36576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City Bike">
  <a:themeElements>
    <a:clrScheme name="City Bike">
      <a:dk1>
        <a:srgbClr val="1E2328"/>
      </a:dk1>
      <a:lt1>
        <a:srgbClr val="FFFFFF"/>
      </a:lt1>
      <a:dk2>
        <a:srgbClr val="24333B"/>
      </a:dk2>
      <a:lt2>
        <a:srgbClr val="F2F4F5"/>
      </a:lt2>
      <a:accent1>
        <a:srgbClr val="F2B705"/>
      </a:accent1>
      <a:accent2>
        <a:srgbClr val="2A6F97"/>
      </a:accent2>
      <a:accent3>
        <a:srgbClr val="D62828"/>
      </a:accent3>
      <a:accent4>
        <a:srgbClr val="2A9D8F"/>
      </a:accent4>
      <a:accent5>
        <a:srgbClr val="7B2CBF"/>
      </a:accent5>
      <a:accent6>
        <a:srgbClr val="8D99AE"/>
      </a:accent6>
      <a:hlink>
        <a:srgbClr val="2A6F97"/>
      </a:hlink>
      <a:folHlink>
        <a:srgbClr val="7B2CBF"/>
      </a:folHlink>
    </a:clrScheme>
    <a:fontScheme name="City Bik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Helsingin kaupunkipyörät: asemien roolit, sää ja kysyntä</dc:title>
  <dc:subject>PptxGenJS Presentation</dc:subject>
  <dc:creator>Elias E, Elias N, Veijo, Miska</dc:creator>
  <cp:lastModifiedBy>Elias E, Elias N, Veijo, Miska</cp:lastModifiedBy>
  <cp:revision>1</cp:revision>
  <dcterms:created xsi:type="dcterms:W3CDTF">2026-10-07T12:19:51Z</dcterms:created>
  <dcterms:modified xsi:type="dcterms:W3CDTF">2026-10-07T12:19:51Z</dcterms:modified>
</cp:coreProperties>
</file>